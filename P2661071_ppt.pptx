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9789F-89B8-4C9F-ACF1-D68FDBF5487E}" v="3" dt="2025-11-04T10:24:00.026"/>
    <p1510:client id="{233BFCF2-9BF7-72F0-1DD5-B1EFA3F3E3BE}" v="51" dt="2025-11-03T11:49:58.618"/>
    <p1510:client id="{710B6C7B-B90E-4AC8-8A36-E6CB07C699A1}" v="35" dt="2025-11-03T16:33:06.1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60"/>
  </p:normalViewPr>
  <p:slideViewPr>
    <p:cSldViewPr snapToGrid="0">
      <p:cViewPr varScale="1">
        <p:scale>
          <a:sx n="150" d="100"/>
          <a:sy n="150" d="100"/>
        </p:scale>
        <p:origin x="3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en Cooke" userId="e8a4f68f-85ad-41db-9ad1-ec33b03ec806" providerId="ADAL" clId="{EAD39ACE-FE7A-4A87-9C47-56BC80842EA1}"/>
    <pc:docChg chg="undo custSel modSld">
      <pc:chgData name="Owen Cooke" userId="e8a4f68f-85ad-41db-9ad1-ec33b03ec806" providerId="ADAL" clId="{EAD39ACE-FE7A-4A87-9C47-56BC80842EA1}" dt="2025-11-04T10:27:21.672" v="155" actId="948"/>
      <pc:docMkLst>
        <pc:docMk/>
      </pc:docMkLst>
      <pc:sldChg chg="modSp mod">
        <pc:chgData name="Owen Cooke" userId="e8a4f68f-85ad-41db-9ad1-ec33b03ec806" providerId="ADAL" clId="{EAD39ACE-FE7A-4A87-9C47-56BC80842EA1}" dt="2025-11-04T10:14:06.614" v="5" actId="20577"/>
        <pc:sldMkLst>
          <pc:docMk/>
          <pc:sldMk cId="2405574027" sldId="257"/>
        </pc:sldMkLst>
        <pc:spChg chg="mod">
          <ac:chgData name="Owen Cooke" userId="e8a4f68f-85ad-41db-9ad1-ec33b03ec806" providerId="ADAL" clId="{EAD39ACE-FE7A-4A87-9C47-56BC80842EA1}" dt="2025-11-04T10:14:06.614" v="5" actId="20577"/>
          <ac:spMkLst>
            <pc:docMk/>
            <pc:sldMk cId="2405574027" sldId="257"/>
            <ac:spMk id="4" creationId="{D66325CD-9175-FB24-45C2-451F4D2D20DF}"/>
          </ac:spMkLst>
        </pc:spChg>
      </pc:sldChg>
      <pc:sldChg chg="modSp mod">
        <pc:chgData name="Owen Cooke" userId="e8a4f68f-85ad-41db-9ad1-ec33b03ec806" providerId="ADAL" clId="{EAD39ACE-FE7A-4A87-9C47-56BC80842EA1}" dt="2025-11-04T10:27:21.672" v="155" actId="948"/>
        <pc:sldMkLst>
          <pc:docMk/>
          <pc:sldMk cId="3578862209" sldId="261"/>
        </pc:sldMkLst>
        <pc:spChg chg="mod">
          <ac:chgData name="Owen Cooke" userId="e8a4f68f-85ad-41db-9ad1-ec33b03ec806" providerId="ADAL" clId="{EAD39ACE-FE7A-4A87-9C47-56BC80842EA1}" dt="2025-11-04T10:24:17.028" v="147" actId="1076"/>
          <ac:spMkLst>
            <pc:docMk/>
            <pc:sldMk cId="3578862209" sldId="261"/>
            <ac:spMk id="2" creationId="{184B2D81-6711-EAD2-DF65-A4DC7A42EB3E}"/>
          </ac:spMkLst>
        </pc:spChg>
        <pc:spChg chg="mod">
          <ac:chgData name="Owen Cooke" userId="e8a4f68f-85ad-41db-9ad1-ec33b03ec806" providerId="ADAL" clId="{EAD39ACE-FE7A-4A87-9C47-56BC80842EA1}" dt="2025-11-04T10:27:21.672" v="155" actId="948"/>
          <ac:spMkLst>
            <pc:docMk/>
            <pc:sldMk cId="3578862209" sldId="261"/>
            <ac:spMk id="4" creationId="{87CAE033-E401-B6C6-9EB1-1A6FD8CEC133}"/>
          </ac:spMkLst>
        </pc:spChg>
        <pc:picChg chg="mod">
          <ac:chgData name="Owen Cooke" userId="e8a4f68f-85ad-41db-9ad1-ec33b03ec806" providerId="ADAL" clId="{EAD39ACE-FE7A-4A87-9C47-56BC80842EA1}" dt="2025-11-04T10:15:03.683" v="13" actId="1076"/>
          <ac:picMkLst>
            <pc:docMk/>
            <pc:sldMk cId="3578862209" sldId="261"/>
            <ac:picMk id="10" creationId="{16D8A389-6FC2-D3A8-C507-637B9C7D9991}"/>
          </ac:picMkLst>
        </pc:picChg>
        <pc:picChg chg="mod">
          <ac:chgData name="Owen Cooke" userId="e8a4f68f-85ad-41db-9ad1-ec33b03ec806" providerId="ADAL" clId="{EAD39ACE-FE7A-4A87-9C47-56BC80842EA1}" dt="2025-11-04T10:14:54.103" v="12" actId="14100"/>
          <ac:picMkLst>
            <pc:docMk/>
            <pc:sldMk cId="3578862209" sldId="261"/>
            <ac:picMk id="14" creationId="{C91E1A18-F72F-F090-13AD-3C0CC5D8A635}"/>
          </ac:picMkLst>
        </pc:picChg>
      </pc:sldChg>
      <pc:sldChg chg="modSp mod">
        <pc:chgData name="Owen Cooke" userId="e8a4f68f-85ad-41db-9ad1-ec33b03ec806" providerId="ADAL" clId="{EAD39ACE-FE7A-4A87-9C47-56BC80842EA1}" dt="2025-11-04T10:17:44.262" v="39" actId="20577"/>
        <pc:sldMkLst>
          <pc:docMk/>
          <pc:sldMk cId="2781494911" sldId="262"/>
        </pc:sldMkLst>
        <pc:spChg chg="mod">
          <ac:chgData name="Owen Cooke" userId="e8a4f68f-85ad-41db-9ad1-ec33b03ec806" providerId="ADAL" clId="{EAD39ACE-FE7A-4A87-9C47-56BC80842EA1}" dt="2025-11-04T10:17:44.262" v="39" actId="20577"/>
          <ac:spMkLst>
            <pc:docMk/>
            <pc:sldMk cId="2781494911" sldId="262"/>
            <ac:spMk id="4" creationId="{012755EC-854C-83BF-1280-29FC79209B3C}"/>
          </ac:spMkLst>
        </pc:spChg>
      </pc:sldChg>
      <pc:sldChg chg="modSp mod modNotesTx">
        <pc:chgData name="Owen Cooke" userId="e8a4f68f-85ad-41db-9ad1-ec33b03ec806" providerId="ADAL" clId="{EAD39ACE-FE7A-4A87-9C47-56BC80842EA1}" dt="2025-11-04T10:22:13.690" v="139" actId="20577"/>
        <pc:sldMkLst>
          <pc:docMk/>
          <pc:sldMk cId="3432408685" sldId="263"/>
        </pc:sldMkLst>
        <pc:spChg chg="mod">
          <ac:chgData name="Owen Cooke" userId="e8a4f68f-85ad-41db-9ad1-ec33b03ec806" providerId="ADAL" clId="{EAD39ACE-FE7A-4A87-9C47-56BC80842EA1}" dt="2025-11-04T10:22:13.690" v="139" actId="20577"/>
          <ac:spMkLst>
            <pc:docMk/>
            <pc:sldMk cId="3432408685" sldId="263"/>
            <ac:spMk id="3" creationId="{2CA309CD-155E-05D9-122B-313325102FA0}"/>
          </ac:spMkLst>
        </pc:spChg>
        <pc:picChg chg="mod">
          <ac:chgData name="Owen Cooke" userId="e8a4f68f-85ad-41db-9ad1-ec33b03ec806" providerId="ADAL" clId="{EAD39ACE-FE7A-4A87-9C47-56BC80842EA1}" dt="2025-11-04T10:21:11.469" v="128" actId="1076"/>
          <ac:picMkLst>
            <pc:docMk/>
            <pc:sldMk cId="3432408685" sldId="263"/>
            <ac:picMk id="4" creationId="{26CA5AF7-1D04-9CD7-3630-C108D59AD4AA}"/>
          </ac:picMkLst>
        </pc:picChg>
        <pc:picChg chg="mod">
          <ac:chgData name="Owen Cooke" userId="e8a4f68f-85ad-41db-9ad1-ec33b03ec806" providerId="ADAL" clId="{EAD39ACE-FE7A-4A87-9C47-56BC80842EA1}" dt="2025-11-04T10:21:18.675" v="129" actId="1076"/>
          <ac:picMkLst>
            <pc:docMk/>
            <pc:sldMk cId="3432408685" sldId="263"/>
            <ac:picMk id="5" creationId="{37C6BDEF-1B4A-F4C2-0658-CE07AB63C4C4}"/>
          </ac:picMkLst>
        </pc:picChg>
      </pc:sldChg>
      <pc:sldChg chg="modSp">
        <pc:chgData name="Owen Cooke" userId="e8a4f68f-85ad-41db-9ad1-ec33b03ec806" providerId="ADAL" clId="{EAD39ACE-FE7A-4A87-9C47-56BC80842EA1}" dt="2025-11-04T10:13:06.148" v="1" actId="113"/>
        <pc:sldMkLst>
          <pc:docMk/>
          <pc:sldMk cId="2095752450" sldId="264"/>
        </pc:sldMkLst>
        <pc:graphicFrameChg chg="mod">
          <ac:chgData name="Owen Cooke" userId="e8a4f68f-85ad-41db-9ad1-ec33b03ec806" providerId="ADAL" clId="{EAD39ACE-FE7A-4A87-9C47-56BC80842EA1}" dt="2025-11-04T10:13:06.148" v="1" actId="113"/>
          <ac:graphicFrameMkLst>
            <pc:docMk/>
            <pc:sldMk cId="2095752450" sldId="264"/>
            <ac:graphicFrameMk id="10" creationId="{88516E41-7875-D39A-C695-BC02BBBAFA24}"/>
          </ac:graphicFrameMkLst>
        </pc:graphicFrameChg>
      </pc:sldChg>
      <pc:sldChg chg="modSp mod">
        <pc:chgData name="Owen Cooke" userId="e8a4f68f-85ad-41db-9ad1-ec33b03ec806" providerId="ADAL" clId="{EAD39ACE-FE7A-4A87-9C47-56BC80842EA1}" dt="2025-11-04T10:22:34.078" v="140" actId="255"/>
        <pc:sldMkLst>
          <pc:docMk/>
          <pc:sldMk cId="224892849" sldId="265"/>
        </pc:sldMkLst>
        <pc:spChg chg="mod">
          <ac:chgData name="Owen Cooke" userId="e8a4f68f-85ad-41db-9ad1-ec33b03ec806" providerId="ADAL" clId="{EAD39ACE-FE7A-4A87-9C47-56BC80842EA1}" dt="2025-11-04T10:12:52.561" v="0" actId="113"/>
          <ac:spMkLst>
            <pc:docMk/>
            <pc:sldMk cId="224892849" sldId="265"/>
            <ac:spMk id="3" creationId="{B04B56FF-D7BB-0A89-CC2B-6560FAA71E76}"/>
          </ac:spMkLst>
        </pc:spChg>
        <pc:spChg chg="mod">
          <ac:chgData name="Owen Cooke" userId="e8a4f68f-85ad-41db-9ad1-ec33b03ec806" providerId="ADAL" clId="{EAD39ACE-FE7A-4A87-9C47-56BC80842EA1}" dt="2025-11-04T10:22:34.078" v="140" actId="255"/>
          <ac:spMkLst>
            <pc:docMk/>
            <pc:sldMk cId="224892849" sldId="265"/>
            <ac:spMk id="4" creationId="{23D096E4-6CBC-7400-1E18-4B8A7E7068B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E6AAD7-C4AF-4668-855D-9731E466705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3FC6247-83E8-4B28-87D5-8923B1C6FF8F}">
      <dgm:prSet custT="1"/>
      <dgm:spPr/>
      <dgm:t>
        <a:bodyPr/>
        <a:lstStyle/>
        <a:p>
          <a:pPr>
            <a:lnSpc>
              <a:spcPct val="100000"/>
            </a:lnSpc>
          </a:pPr>
          <a:r>
            <a:rPr lang="en-GB" sz="1800" dirty="0"/>
            <a:t>Successfully built, trained and evaluated an ANN and CNN model to classify the Fashion-MNIST dataset.</a:t>
          </a:r>
          <a:endParaRPr lang="en-US" sz="1800" dirty="0"/>
        </a:p>
      </dgm:t>
    </dgm:pt>
    <dgm:pt modelId="{2C451793-F962-43F2-9133-F60CF00C739C}" type="parTrans" cxnId="{F877102F-4FFB-49D7-A6C9-FF88A63EF975}">
      <dgm:prSet/>
      <dgm:spPr/>
      <dgm:t>
        <a:bodyPr/>
        <a:lstStyle/>
        <a:p>
          <a:endParaRPr lang="en-US"/>
        </a:p>
      </dgm:t>
    </dgm:pt>
    <dgm:pt modelId="{11C4C1B6-96C1-4E48-9593-2684258EC78D}" type="sibTrans" cxnId="{F877102F-4FFB-49D7-A6C9-FF88A63EF975}">
      <dgm:prSet/>
      <dgm:spPr/>
      <dgm:t>
        <a:bodyPr/>
        <a:lstStyle/>
        <a:p>
          <a:endParaRPr lang="en-US"/>
        </a:p>
      </dgm:t>
    </dgm:pt>
    <dgm:pt modelId="{24ECF23A-B280-47D8-B351-DABCA763CFBC}">
      <dgm:prSet/>
      <dgm:spPr/>
      <dgm:t>
        <a:bodyPr/>
        <a:lstStyle/>
        <a:p>
          <a:pPr>
            <a:lnSpc>
              <a:spcPct val="100000"/>
            </a:lnSpc>
          </a:pPr>
          <a:r>
            <a:rPr lang="en-GB" dirty="0"/>
            <a:t>Both models achieved </a:t>
          </a:r>
          <a:r>
            <a:rPr lang="en-GB" b="1" dirty="0"/>
            <a:t>high accuracy</a:t>
          </a:r>
          <a:r>
            <a:rPr lang="en-GB" dirty="0"/>
            <a:t>, with ANN performing slightly stronger than CNN.</a:t>
          </a:r>
          <a:endParaRPr lang="en-US" dirty="0"/>
        </a:p>
      </dgm:t>
    </dgm:pt>
    <dgm:pt modelId="{B4AE55CC-4EE7-4396-B1D1-1527163B1A5D}" type="parTrans" cxnId="{67CE9959-9683-4458-BE51-2CB1FB000DD9}">
      <dgm:prSet/>
      <dgm:spPr/>
      <dgm:t>
        <a:bodyPr/>
        <a:lstStyle/>
        <a:p>
          <a:endParaRPr lang="en-US"/>
        </a:p>
      </dgm:t>
    </dgm:pt>
    <dgm:pt modelId="{366E6A65-6470-4FBA-BB1A-45BF1EF1917B}" type="sibTrans" cxnId="{67CE9959-9683-4458-BE51-2CB1FB000DD9}">
      <dgm:prSet/>
      <dgm:spPr/>
      <dgm:t>
        <a:bodyPr/>
        <a:lstStyle/>
        <a:p>
          <a:endParaRPr lang="en-US"/>
        </a:p>
      </dgm:t>
    </dgm:pt>
    <dgm:pt modelId="{0431335E-0CFD-4051-BC72-F749728E84BD}" type="pres">
      <dgm:prSet presAssocID="{7FE6AAD7-C4AF-4668-855D-9731E4667056}" presName="root" presStyleCnt="0">
        <dgm:presLayoutVars>
          <dgm:dir/>
          <dgm:resizeHandles val="exact"/>
        </dgm:presLayoutVars>
      </dgm:prSet>
      <dgm:spPr/>
    </dgm:pt>
    <dgm:pt modelId="{92C38123-FF1D-47FA-959E-2B94A9BBEDB3}" type="pres">
      <dgm:prSet presAssocID="{03FC6247-83E8-4B28-87D5-8923B1C6FF8F}" presName="compNode" presStyleCnt="0"/>
      <dgm:spPr/>
    </dgm:pt>
    <dgm:pt modelId="{6B8449FB-8280-4287-AAA7-146E60B4F3A2}" type="pres">
      <dgm:prSet presAssocID="{03FC6247-83E8-4B28-87D5-8923B1C6FF8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D8E2668C-9794-4456-91AD-C9C72EB4F47E}" type="pres">
      <dgm:prSet presAssocID="{03FC6247-83E8-4B28-87D5-8923B1C6FF8F}" presName="spaceRect" presStyleCnt="0"/>
      <dgm:spPr/>
    </dgm:pt>
    <dgm:pt modelId="{77CCF8A0-EC4F-4D03-82F6-6A265AED65BF}" type="pres">
      <dgm:prSet presAssocID="{03FC6247-83E8-4B28-87D5-8923B1C6FF8F}" presName="textRect" presStyleLbl="revTx" presStyleIdx="0" presStyleCnt="2" custLinFactNeighborX="1454">
        <dgm:presLayoutVars>
          <dgm:chMax val="1"/>
          <dgm:chPref val="1"/>
        </dgm:presLayoutVars>
      </dgm:prSet>
      <dgm:spPr/>
    </dgm:pt>
    <dgm:pt modelId="{1E68161C-788E-4F82-9616-692EF4CD6CC4}" type="pres">
      <dgm:prSet presAssocID="{11C4C1B6-96C1-4E48-9593-2684258EC78D}" presName="sibTrans" presStyleCnt="0"/>
      <dgm:spPr/>
    </dgm:pt>
    <dgm:pt modelId="{2627E6DF-D665-41BC-8C7C-350E4948FDF9}" type="pres">
      <dgm:prSet presAssocID="{24ECF23A-B280-47D8-B351-DABCA763CFBC}" presName="compNode" presStyleCnt="0"/>
      <dgm:spPr/>
    </dgm:pt>
    <dgm:pt modelId="{47792D82-5B64-45C3-88B3-F014ADBAF4AB}" type="pres">
      <dgm:prSet presAssocID="{24ECF23A-B280-47D8-B351-DABCA763CFB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ptical disc"/>
        </a:ext>
      </dgm:extLst>
    </dgm:pt>
    <dgm:pt modelId="{4E269683-188F-4267-B96A-30EA82BCF983}" type="pres">
      <dgm:prSet presAssocID="{24ECF23A-B280-47D8-B351-DABCA763CFBC}" presName="spaceRect" presStyleCnt="0"/>
      <dgm:spPr/>
    </dgm:pt>
    <dgm:pt modelId="{006F48B5-609D-4BCA-B9B1-409545D63199}" type="pres">
      <dgm:prSet presAssocID="{24ECF23A-B280-47D8-B351-DABCA763CFBC}" presName="textRect" presStyleLbl="revTx" presStyleIdx="1" presStyleCnt="2">
        <dgm:presLayoutVars>
          <dgm:chMax val="1"/>
          <dgm:chPref val="1"/>
        </dgm:presLayoutVars>
      </dgm:prSet>
      <dgm:spPr/>
    </dgm:pt>
  </dgm:ptLst>
  <dgm:cxnLst>
    <dgm:cxn modelId="{F877102F-4FFB-49D7-A6C9-FF88A63EF975}" srcId="{7FE6AAD7-C4AF-4668-855D-9731E4667056}" destId="{03FC6247-83E8-4B28-87D5-8923B1C6FF8F}" srcOrd="0" destOrd="0" parTransId="{2C451793-F962-43F2-9133-F60CF00C739C}" sibTransId="{11C4C1B6-96C1-4E48-9593-2684258EC78D}"/>
    <dgm:cxn modelId="{83EE7A4D-9635-4A8B-B60D-4DF3BA9FE992}" type="presOf" srcId="{7FE6AAD7-C4AF-4668-855D-9731E4667056}" destId="{0431335E-0CFD-4051-BC72-F749728E84BD}" srcOrd="0" destOrd="0" presId="urn:microsoft.com/office/officeart/2018/2/layout/IconLabelList"/>
    <dgm:cxn modelId="{67CE9959-9683-4458-BE51-2CB1FB000DD9}" srcId="{7FE6AAD7-C4AF-4668-855D-9731E4667056}" destId="{24ECF23A-B280-47D8-B351-DABCA763CFBC}" srcOrd="1" destOrd="0" parTransId="{B4AE55CC-4EE7-4396-B1D1-1527163B1A5D}" sibTransId="{366E6A65-6470-4FBA-BB1A-45BF1EF1917B}"/>
    <dgm:cxn modelId="{7B6337B2-6951-4FE3-A769-161DCF8817A5}" type="presOf" srcId="{24ECF23A-B280-47D8-B351-DABCA763CFBC}" destId="{006F48B5-609D-4BCA-B9B1-409545D63199}" srcOrd="0" destOrd="0" presId="urn:microsoft.com/office/officeart/2018/2/layout/IconLabelList"/>
    <dgm:cxn modelId="{F58758CC-F0E3-490C-AC7E-E75BF7B6A5DF}" type="presOf" srcId="{03FC6247-83E8-4B28-87D5-8923B1C6FF8F}" destId="{77CCF8A0-EC4F-4D03-82F6-6A265AED65BF}" srcOrd="0" destOrd="0" presId="urn:microsoft.com/office/officeart/2018/2/layout/IconLabelList"/>
    <dgm:cxn modelId="{55B46913-30B1-440D-BA39-80FC033D534F}" type="presParOf" srcId="{0431335E-0CFD-4051-BC72-F749728E84BD}" destId="{92C38123-FF1D-47FA-959E-2B94A9BBEDB3}" srcOrd="0" destOrd="0" presId="urn:microsoft.com/office/officeart/2018/2/layout/IconLabelList"/>
    <dgm:cxn modelId="{4075E111-8A16-40F6-A677-CB6A03E42BB5}" type="presParOf" srcId="{92C38123-FF1D-47FA-959E-2B94A9BBEDB3}" destId="{6B8449FB-8280-4287-AAA7-146E60B4F3A2}" srcOrd="0" destOrd="0" presId="urn:microsoft.com/office/officeart/2018/2/layout/IconLabelList"/>
    <dgm:cxn modelId="{61D81B27-EDA5-4C08-90AD-C50367078611}" type="presParOf" srcId="{92C38123-FF1D-47FA-959E-2B94A9BBEDB3}" destId="{D8E2668C-9794-4456-91AD-C9C72EB4F47E}" srcOrd="1" destOrd="0" presId="urn:microsoft.com/office/officeart/2018/2/layout/IconLabelList"/>
    <dgm:cxn modelId="{0CFBF6FA-5C63-4BD7-8CA9-B95CB3AEC738}" type="presParOf" srcId="{92C38123-FF1D-47FA-959E-2B94A9BBEDB3}" destId="{77CCF8A0-EC4F-4D03-82F6-6A265AED65BF}" srcOrd="2" destOrd="0" presId="urn:microsoft.com/office/officeart/2018/2/layout/IconLabelList"/>
    <dgm:cxn modelId="{3D93F824-AE62-40F1-BD75-B0B8C3E41EC2}" type="presParOf" srcId="{0431335E-0CFD-4051-BC72-F749728E84BD}" destId="{1E68161C-788E-4F82-9616-692EF4CD6CC4}" srcOrd="1" destOrd="0" presId="urn:microsoft.com/office/officeart/2018/2/layout/IconLabelList"/>
    <dgm:cxn modelId="{CCE2421B-1114-42DE-A559-38794473F269}" type="presParOf" srcId="{0431335E-0CFD-4051-BC72-F749728E84BD}" destId="{2627E6DF-D665-41BC-8C7C-350E4948FDF9}" srcOrd="2" destOrd="0" presId="urn:microsoft.com/office/officeart/2018/2/layout/IconLabelList"/>
    <dgm:cxn modelId="{CD2EAA08-8C7B-4F87-BFC7-0E2A56EC2016}" type="presParOf" srcId="{2627E6DF-D665-41BC-8C7C-350E4948FDF9}" destId="{47792D82-5B64-45C3-88B3-F014ADBAF4AB}" srcOrd="0" destOrd="0" presId="urn:microsoft.com/office/officeart/2018/2/layout/IconLabelList"/>
    <dgm:cxn modelId="{D0449D6D-6D5A-4504-99D7-D164B5AA8CE2}" type="presParOf" srcId="{2627E6DF-D665-41BC-8C7C-350E4948FDF9}" destId="{4E269683-188F-4267-B96A-30EA82BCF983}" srcOrd="1" destOrd="0" presId="urn:microsoft.com/office/officeart/2018/2/layout/IconLabelList"/>
    <dgm:cxn modelId="{F396E217-77C0-45A5-8680-F5F023C1CC82}" type="presParOf" srcId="{2627E6DF-D665-41BC-8C7C-350E4948FDF9}" destId="{006F48B5-609D-4BCA-B9B1-409545D6319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8449FB-8280-4287-AAA7-146E60B4F3A2}">
      <dsp:nvSpPr>
        <dsp:cNvPr id="0" name=""/>
        <dsp:cNvSpPr/>
      </dsp:nvSpPr>
      <dsp:spPr>
        <a:xfrm>
          <a:off x="686992" y="452920"/>
          <a:ext cx="1058062" cy="1058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CCF8A0-EC4F-4D03-82F6-6A265AED65BF}">
      <dsp:nvSpPr>
        <dsp:cNvPr id="0" name=""/>
        <dsp:cNvSpPr/>
      </dsp:nvSpPr>
      <dsp:spPr>
        <a:xfrm>
          <a:off x="74586" y="1920126"/>
          <a:ext cx="235125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Successfully built, trained and evaluated an ANN and CNN model to classify the Fashion-MNIST dataset.</a:t>
          </a:r>
          <a:endParaRPr lang="en-US" sz="1800" kern="1200" dirty="0"/>
        </a:p>
      </dsp:txBody>
      <dsp:txXfrm>
        <a:off x="74586" y="1920126"/>
        <a:ext cx="2351250" cy="1260000"/>
      </dsp:txXfrm>
    </dsp:sp>
    <dsp:sp modelId="{47792D82-5B64-45C3-88B3-F014ADBAF4AB}">
      <dsp:nvSpPr>
        <dsp:cNvPr id="0" name=""/>
        <dsp:cNvSpPr/>
      </dsp:nvSpPr>
      <dsp:spPr>
        <a:xfrm>
          <a:off x="3449711" y="452920"/>
          <a:ext cx="1058062" cy="1058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6F48B5-609D-4BCA-B9B1-409545D63199}">
      <dsp:nvSpPr>
        <dsp:cNvPr id="0" name=""/>
        <dsp:cNvSpPr/>
      </dsp:nvSpPr>
      <dsp:spPr>
        <a:xfrm>
          <a:off x="2803117" y="1920126"/>
          <a:ext cx="235125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GB" sz="1900" kern="1200" dirty="0"/>
            <a:t>Both models achieved </a:t>
          </a:r>
          <a:r>
            <a:rPr lang="en-GB" sz="1900" b="1" kern="1200" dirty="0"/>
            <a:t>high accuracy</a:t>
          </a:r>
          <a:r>
            <a:rPr lang="en-GB" sz="1900" kern="1200" dirty="0"/>
            <a:t>, with ANN performing slightly stronger than CNN.</a:t>
          </a:r>
          <a:endParaRPr lang="en-US" sz="1900" kern="1200" dirty="0"/>
        </a:p>
      </dsp:txBody>
      <dsp:txXfrm>
        <a:off x="2803117" y="1920126"/>
        <a:ext cx="2351250" cy="126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5AF8FA-32CC-4730-BDB1-79AC03A4075E}" type="datetimeFigureOut">
              <a:rPr lang="en-GB" smtClean="0"/>
              <a:t>04/11/2025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13D803-FBC1-41AB-B21D-6994FF0C939D}" type="slidenum">
              <a:rPr lang="en-GB" smtClean="0"/>
              <a:t>‹#›</a:t>
            </a:fld>
            <a:endParaRPr lang="en-GB"/>
          </a:p>
        </p:txBody>
      </p:sp>
    </p:spTree>
    <p:extLst>
      <p:ext uri="{BB962C8B-B14F-4D97-AF65-F5344CB8AC3E}">
        <p14:creationId xmlns:p14="http://schemas.microsoft.com/office/powerpoint/2010/main" val="4256712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normalize, one-hot encoding, data augmentation, training, test and validation sets, 2) multi-layer perceptron for ANN.</a:t>
            </a:r>
            <a:fld id="{71E936D4-BAD1-4ADD-BCA6-BE9B7FC07738}" type="slidenum">
              <a:rPr lang="en-US" smtClean="0"/>
              <a:t>4</a:t>
            </a:fld>
            <a:endParaRPr lang="en-US" dirty="0"/>
          </a:p>
          <a:p>
            <a:endParaRPr lang="en-GB" dirty="0"/>
          </a:p>
        </p:txBody>
      </p:sp>
      <p:sp>
        <p:nvSpPr>
          <p:cNvPr id="4" name="Slide Number Placeholder 3"/>
          <p:cNvSpPr>
            <a:spLocks noGrp="1"/>
          </p:cNvSpPr>
          <p:nvPr>
            <p:ph type="sldNum" sz="quarter" idx="5"/>
          </p:nvPr>
        </p:nvSpPr>
        <p:spPr/>
        <p:txBody>
          <a:bodyPr/>
          <a:lstStyle/>
          <a:p>
            <a:fld id="{6613D803-FBC1-41AB-B21D-6994FF0C939D}" type="slidenum">
              <a:rPr lang="en-GB" smtClean="0"/>
              <a:t>4</a:t>
            </a:fld>
            <a:endParaRPr lang="en-GB"/>
          </a:p>
        </p:txBody>
      </p:sp>
    </p:spTree>
    <p:extLst>
      <p:ext uri="{BB962C8B-B14F-4D97-AF65-F5344CB8AC3E}">
        <p14:creationId xmlns:p14="http://schemas.microsoft.com/office/powerpoint/2010/main" val="1804572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613D803-FBC1-41AB-B21D-6994FF0C939D}" type="slidenum">
              <a:rPr lang="en-GB" smtClean="0"/>
              <a:t>6</a:t>
            </a:fld>
            <a:endParaRPr lang="en-GB"/>
          </a:p>
        </p:txBody>
      </p:sp>
    </p:spTree>
    <p:extLst>
      <p:ext uri="{BB962C8B-B14F-4D97-AF65-F5344CB8AC3E}">
        <p14:creationId xmlns:p14="http://schemas.microsoft.com/office/powerpoint/2010/main" val="3014460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28x28 greyscale pixel images.</a:t>
            </a:r>
          </a:p>
        </p:txBody>
      </p:sp>
      <p:sp>
        <p:nvSpPr>
          <p:cNvPr id="4" name="Slide Number Placeholder 3"/>
          <p:cNvSpPr>
            <a:spLocks noGrp="1"/>
          </p:cNvSpPr>
          <p:nvPr>
            <p:ph type="sldNum" sz="quarter" idx="5"/>
          </p:nvPr>
        </p:nvSpPr>
        <p:spPr/>
        <p:txBody>
          <a:bodyPr/>
          <a:lstStyle/>
          <a:p>
            <a:fld id="{6613D803-FBC1-41AB-B21D-6994FF0C939D}" type="slidenum">
              <a:rPr lang="en-GB" smtClean="0"/>
              <a:t>8</a:t>
            </a:fld>
            <a:endParaRPr lang="en-GB"/>
          </a:p>
        </p:txBody>
      </p:sp>
    </p:spTree>
    <p:extLst>
      <p:ext uri="{BB962C8B-B14F-4D97-AF65-F5344CB8AC3E}">
        <p14:creationId xmlns:p14="http://schemas.microsoft.com/office/powerpoint/2010/main" val="555981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Early stopping: preventing </a:t>
            </a:r>
            <a:r>
              <a:rPr lang="en-GB" dirty="0"/>
              <a:t>the program from running extra epochs if it is unlikely to improve.</a:t>
            </a:r>
          </a:p>
        </p:txBody>
      </p:sp>
      <p:sp>
        <p:nvSpPr>
          <p:cNvPr id="4" name="Slide Number Placeholder 3"/>
          <p:cNvSpPr>
            <a:spLocks noGrp="1"/>
          </p:cNvSpPr>
          <p:nvPr>
            <p:ph type="sldNum" sz="quarter" idx="5"/>
          </p:nvPr>
        </p:nvSpPr>
        <p:spPr/>
        <p:txBody>
          <a:bodyPr/>
          <a:lstStyle/>
          <a:p>
            <a:fld id="{6613D803-FBC1-41AB-B21D-6994FF0C939D}" type="slidenum">
              <a:rPr lang="en-GB" smtClean="0"/>
              <a:t>10</a:t>
            </a:fld>
            <a:endParaRPr lang="en-GB"/>
          </a:p>
        </p:txBody>
      </p:sp>
    </p:spTree>
    <p:extLst>
      <p:ext uri="{BB962C8B-B14F-4D97-AF65-F5344CB8AC3E}">
        <p14:creationId xmlns:p14="http://schemas.microsoft.com/office/powerpoint/2010/main" val="436942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1775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0175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443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027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7986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8205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1941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84331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0000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13248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4985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81105979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27" r:id="rId6"/>
    <p:sldLayoutId id="2147483723" r:id="rId7"/>
    <p:sldLayoutId id="2147483724" r:id="rId8"/>
    <p:sldLayoutId id="2147483725" r:id="rId9"/>
    <p:sldLayoutId id="2147483726" r:id="rId10"/>
    <p:sldLayoutId id="2147483728" r:id="rId11"/>
  </p:sldLayoutIdLst>
  <p:hf sldNum="0" hdr="0" ftr="0" dt="0"/>
  <p:txStyles>
    <p:title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9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eb of dots connected">
            <a:extLst>
              <a:ext uri="{FF2B5EF4-FFF2-40B4-BE49-F238E27FC236}">
                <a16:creationId xmlns:a16="http://schemas.microsoft.com/office/drawing/2014/main" id="{9F2E1543-230E-A012-36D0-936A7F2DD9D2}"/>
              </a:ext>
            </a:extLst>
          </p:cNvPr>
          <p:cNvPicPr>
            <a:picLocks noChangeAspect="1"/>
          </p:cNvPicPr>
          <p:nvPr/>
        </p:nvPicPr>
        <p:blipFill>
          <a:blip r:embed="rId2"/>
          <a:srcRect l="9109" t="9091" r="18372" b="4"/>
          <a:stretch>
            <a:fillRect/>
          </a:stretch>
        </p:blipFill>
        <p:spPr>
          <a:xfrm>
            <a:off x="20" y="10"/>
            <a:ext cx="12191980" cy="6857988"/>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37126" y="1419225"/>
            <a:ext cx="4320227" cy="2395117"/>
          </a:xfrm>
        </p:spPr>
        <p:txBody>
          <a:bodyPr>
            <a:normAutofit fontScale="90000"/>
          </a:bodyPr>
          <a:lstStyle/>
          <a:p>
            <a:r>
              <a:rPr lang="en-US" sz="4000" b="1" dirty="0">
                <a:solidFill>
                  <a:srgbClr val="FFFFFF"/>
                </a:solidFill>
                <a:ea typeface="+mj-lt"/>
                <a:cs typeface="+mj-lt"/>
              </a:rPr>
              <a:t>A Neural Network Model for Fashion-MNIST</a:t>
            </a:r>
            <a:endParaRPr lang="en-US" b="1" dirty="0"/>
          </a:p>
          <a:p>
            <a:r>
              <a:rPr lang="en-US" sz="4000" b="1" dirty="0">
                <a:solidFill>
                  <a:srgbClr val="FFFFFF"/>
                </a:solidFill>
                <a:ea typeface="+mj-lt"/>
                <a:cs typeface="+mj-lt"/>
              </a:rPr>
              <a:t>Image Classification</a:t>
            </a:r>
            <a:endParaRPr lang="en-US" b="1" dirty="0"/>
          </a:p>
        </p:txBody>
      </p:sp>
      <p:sp>
        <p:nvSpPr>
          <p:cNvPr id="3" name="Subtitle 2"/>
          <p:cNvSpPr>
            <a:spLocks noGrp="1"/>
          </p:cNvSpPr>
          <p:nvPr>
            <p:ph type="subTitle" idx="1"/>
          </p:nvPr>
        </p:nvSpPr>
        <p:spPr>
          <a:xfrm>
            <a:off x="837126" y="3824577"/>
            <a:ext cx="4320228" cy="2395116"/>
          </a:xfrm>
        </p:spPr>
        <p:txBody>
          <a:bodyPr>
            <a:normAutofit fontScale="92500" lnSpcReduction="20000"/>
          </a:bodyPr>
          <a:lstStyle/>
          <a:p>
            <a:r>
              <a:rPr lang="en-GB" sz="1800" dirty="0"/>
              <a:t>Creating and comparing ANN and CNN models for image classification using preprocessing techniques and Python. </a:t>
            </a:r>
          </a:p>
          <a:p>
            <a:pPr marL="285750" indent="-285750">
              <a:buFont typeface="Arial" panose="020B0604020202020204" pitchFamily="34" charset="0"/>
              <a:buChar char="•"/>
            </a:pPr>
            <a:r>
              <a:rPr lang="en-US" sz="1800" dirty="0">
                <a:solidFill>
                  <a:srgbClr val="FFFFFF">
                    <a:alpha val="75000"/>
                  </a:srgbClr>
                </a:solidFill>
              </a:rPr>
              <a:t>Student ID: P2661071</a:t>
            </a:r>
          </a:p>
          <a:p>
            <a:pPr marL="285750" indent="-285750">
              <a:buFont typeface="Arial" panose="020B0604020202020204" pitchFamily="34" charset="0"/>
              <a:buChar char="•"/>
            </a:pPr>
            <a:r>
              <a:rPr lang="en-US" sz="1800" dirty="0">
                <a:solidFill>
                  <a:srgbClr val="FFFFFF">
                    <a:alpha val="75000"/>
                  </a:srgbClr>
                </a:solidFill>
              </a:rPr>
              <a:t>Module: CSIP5103</a:t>
            </a:r>
          </a:p>
          <a:p>
            <a:pPr marL="285750" indent="-285750">
              <a:buFont typeface="Arial" panose="020B0604020202020204" pitchFamily="34" charset="0"/>
              <a:buChar char="•"/>
            </a:pPr>
            <a:r>
              <a:rPr lang="en-US" sz="1800" dirty="0">
                <a:solidFill>
                  <a:srgbClr val="FFFFFF">
                    <a:alpha val="75000"/>
                  </a:srgbClr>
                </a:solidFill>
              </a:rPr>
              <a:t>Course: I40073</a:t>
            </a:r>
          </a:p>
          <a:p>
            <a:pPr marL="285750" indent="-285750">
              <a:buFont typeface="Arial" panose="020B0604020202020204" pitchFamily="34" charset="0"/>
              <a:buChar char="•"/>
            </a:pPr>
            <a:r>
              <a:rPr lang="en-US" sz="1800" dirty="0">
                <a:solidFill>
                  <a:srgbClr val="FFFFFF">
                    <a:alpha val="75000"/>
                  </a:srgbClr>
                </a:solidFill>
              </a:rPr>
              <a:t>Date: 13/11/2025</a:t>
            </a:r>
          </a:p>
        </p:txBody>
      </p:sp>
      <p:sp>
        <p:nvSpPr>
          <p:cNvPr id="5" name="Slide Number Placeholder 4">
            <a:extLst>
              <a:ext uri="{FF2B5EF4-FFF2-40B4-BE49-F238E27FC236}">
                <a16:creationId xmlns:a16="http://schemas.microsoft.com/office/drawing/2014/main" id="{0F0EFB80-D7CD-8187-26DA-79A861168333}"/>
              </a:ext>
            </a:extLst>
          </p:cNvPr>
          <p:cNvSpPr>
            <a:spLocks noGrp="1"/>
          </p:cNvSpPr>
          <p:nvPr>
            <p:ph type="sldNum" sz="quarter" idx="12"/>
          </p:nvPr>
        </p:nvSpPr>
        <p:spPr/>
        <p:txBody>
          <a:bodyPr/>
          <a:lstStyle/>
          <a:p>
            <a:fld id="{3A98EE3D-8CD1-4C3F-BD1C-C98C9596463C}" type="slidenum">
              <a:rPr lang="en-US" smtClean="0"/>
              <a:t>1</a:t>
            </a:fld>
            <a:endParaRPr lang="en-US" dirty="0"/>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D470E-F527-56B0-24A5-B4FB91184EFF}"/>
              </a:ext>
            </a:extLst>
          </p:cNvPr>
          <p:cNvSpPr>
            <a:spLocks noGrp="1"/>
          </p:cNvSpPr>
          <p:nvPr>
            <p:ph type="title"/>
          </p:nvPr>
        </p:nvSpPr>
        <p:spPr/>
        <p:txBody>
          <a:bodyPr/>
          <a:lstStyle/>
          <a:p>
            <a:r>
              <a:rPr lang="en-GB" b="1" dirty="0"/>
              <a:t>Introduction</a:t>
            </a:r>
          </a:p>
        </p:txBody>
      </p:sp>
      <p:sp>
        <p:nvSpPr>
          <p:cNvPr id="3" name="Content Placeholder 2">
            <a:extLst>
              <a:ext uri="{FF2B5EF4-FFF2-40B4-BE49-F238E27FC236}">
                <a16:creationId xmlns:a16="http://schemas.microsoft.com/office/drawing/2014/main" id="{51B826BC-B893-90D1-5909-04DC621E5F5E}"/>
              </a:ext>
            </a:extLst>
          </p:cNvPr>
          <p:cNvSpPr>
            <a:spLocks noGrp="1"/>
          </p:cNvSpPr>
          <p:nvPr>
            <p:ph sz="half" idx="1"/>
          </p:nvPr>
        </p:nvSpPr>
        <p:spPr>
          <a:xfrm>
            <a:off x="519721" y="1932493"/>
            <a:ext cx="5051203" cy="4195849"/>
          </a:xfrm>
        </p:spPr>
        <p:txBody>
          <a:bodyPr>
            <a:noAutofit/>
          </a:bodyPr>
          <a:lstStyle/>
          <a:p>
            <a:pPr marL="0" indent="0">
              <a:buNone/>
            </a:pPr>
            <a:r>
              <a:rPr lang="en-GB" sz="1800" b="1" dirty="0"/>
              <a:t>Background &amp; Context</a:t>
            </a:r>
            <a:r>
              <a:rPr lang="en-GB" sz="1800" dirty="0"/>
              <a:t>:</a:t>
            </a:r>
          </a:p>
          <a:p>
            <a:r>
              <a:rPr lang="en-GB" sz="1800" dirty="0"/>
              <a:t>This </a:t>
            </a:r>
            <a:r>
              <a:rPr lang="en-GB" sz="1800" b="1" dirty="0"/>
              <a:t>project</a:t>
            </a:r>
            <a:r>
              <a:rPr lang="en-GB" sz="1800" dirty="0"/>
              <a:t> focuses on image classification, a fundamental problem in computer vision and artificial intelligence.</a:t>
            </a:r>
          </a:p>
          <a:p>
            <a:r>
              <a:rPr lang="en-GB" sz="1800" dirty="0"/>
              <a:t>The </a:t>
            </a:r>
            <a:r>
              <a:rPr lang="en-GB" sz="1800" b="1" dirty="0"/>
              <a:t>goal</a:t>
            </a:r>
            <a:r>
              <a:rPr lang="en-GB" sz="1800" dirty="0"/>
              <a:t> is to build, train and test neural network models that can accurately classify images of clothing into one of 10 distinct categories: ‘T-shirt’, ‘Trouser’, ‘Pullover’, ‘Dress’, ‘Coat’, ‘Sandal’, ‘Shirt’, ‘Sneaker’, ‘Bag’, and ‘Ankle boot’.</a:t>
            </a:r>
          </a:p>
          <a:p>
            <a:r>
              <a:rPr lang="en-GB" sz="1800" dirty="0"/>
              <a:t>The Fashion-MNIST </a:t>
            </a:r>
            <a:r>
              <a:rPr lang="en-GB" sz="1800" b="1" dirty="0"/>
              <a:t>dataset</a:t>
            </a:r>
            <a:r>
              <a:rPr lang="en-GB" sz="1800" dirty="0"/>
              <a:t> is a widely used benchmark consisting of 70,000 small 28x28 pixel greyscale images.</a:t>
            </a:r>
          </a:p>
        </p:txBody>
      </p:sp>
      <p:sp>
        <p:nvSpPr>
          <p:cNvPr id="4" name="Content Placeholder 3">
            <a:extLst>
              <a:ext uri="{FF2B5EF4-FFF2-40B4-BE49-F238E27FC236}">
                <a16:creationId xmlns:a16="http://schemas.microsoft.com/office/drawing/2014/main" id="{D66325CD-9175-FB24-45C2-451F4D2D20DF}"/>
              </a:ext>
            </a:extLst>
          </p:cNvPr>
          <p:cNvSpPr>
            <a:spLocks noGrp="1"/>
          </p:cNvSpPr>
          <p:nvPr>
            <p:ph sz="half" idx="2"/>
          </p:nvPr>
        </p:nvSpPr>
        <p:spPr>
          <a:xfrm>
            <a:off x="6431534" y="783772"/>
            <a:ext cx="5179273" cy="5861051"/>
          </a:xfrm>
        </p:spPr>
        <p:txBody>
          <a:bodyPr>
            <a:noAutofit/>
          </a:bodyPr>
          <a:lstStyle/>
          <a:p>
            <a:pPr marL="0" indent="0">
              <a:buNone/>
            </a:pPr>
            <a:r>
              <a:rPr lang="en-GB" sz="1800" b="1" dirty="0"/>
              <a:t>Motivation</a:t>
            </a:r>
            <a:r>
              <a:rPr lang="en-GB" sz="1800" dirty="0"/>
              <a:t>:</a:t>
            </a:r>
          </a:p>
          <a:p>
            <a:r>
              <a:rPr lang="en-GB" sz="1800" dirty="0"/>
              <a:t>This project was selected to meet the core learning outcomes of the module.</a:t>
            </a:r>
          </a:p>
          <a:p>
            <a:r>
              <a:rPr lang="en-GB" sz="1800" dirty="0"/>
              <a:t>A key aim is to determine whether an Artificial Neural Network (ANN) or a Convolutional Neural Network (CNN) performs better for this classification task. </a:t>
            </a:r>
          </a:p>
          <a:p>
            <a:pPr marL="0" indent="0">
              <a:buNone/>
            </a:pPr>
            <a:r>
              <a:rPr lang="en-GB" sz="1800" b="1" dirty="0"/>
              <a:t>Key Questions</a:t>
            </a:r>
            <a:r>
              <a:rPr lang="en-GB" sz="1800" dirty="0"/>
              <a:t>:</a:t>
            </a:r>
          </a:p>
          <a:p>
            <a:r>
              <a:rPr lang="en-GB" sz="1800" dirty="0"/>
              <a:t>How accurately can neural networks classify 10 distinct clothing categories? </a:t>
            </a:r>
          </a:p>
          <a:p>
            <a:r>
              <a:rPr lang="en-GB" sz="1800" dirty="0"/>
              <a:t>What preprocessing and normalisation techniques yield the best results? </a:t>
            </a:r>
          </a:p>
          <a:p>
            <a:r>
              <a:rPr lang="en-GB" sz="1800" dirty="0"/>
              <a:t>Which model </a:t>
            </a:r>
            <a:r>
              <a:rPr lang="en-GB" sz="1800" b="1" dirty="0"/>
              <a:t>architecture</a:t>
            </a:r>
            <a:r>
              <a:rPr lang="en-GB" sz="1800" dirty="0"/>
              <a:t> (ANN vs. CNN) is better for this problem, and what </a:t>
            </a:r>
            <a:r>
              <a:rPr lang="en-GB" sz="1800" b="1" dirty="0"/>
              <a:t>metrics</a:t>
            </a:r>
            <a:r>
              <a:rPr lang="en-GB" sz="1800" dirty="0"/>
              <a:t> prove this?</a:t>
            </a:r>
          </a:p>
          <a:p>
            <a:r>
              <a:rPr lang="en-GB" sz="1800" dirty="0"/>
              <a:t>Where do the models tend to make mistakes, revealed by confusion matrices?</a:t>
            </a:r>
          </a:p>
        </p:txBody>
      </p:sp>
    </p:spTree>
    <p:extLst>
      <p:ext uri="{BB962C8B-B14F-4D97-AF65-F5344CB8AC3E}">
        <p14:creationId xmlns:p14="http://schemas.microsoft.com/office/powerpoint/2010/main" val="2405574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A23EC-8B8F-9A77-21B8-AD6C028FEEA9}"/>
              </a:ext>
            </a:extLst>
          </p:cNvPr>
          <p:cNvSpPr>
            <a:spLocks noGrp="1"/>
          </p:cNvSpPr>
          <p:nvPr>
            <p:ph type="title"/>
          </p:nvPr>
        </p:nvSpPr>
        <p:spPr/>
        <p:txBody>
          <a:bodyPr/>
          <a:lstStyle/>
          <a:p>
            <a:r>
              <a:rPr lang="en-GB" b="1" dirty="0"/>
              <a:t>Project Objectives and goals</a:t>
            </a:r>
          </a:p>
        </p:txBody>
      </p:sp>
      <p:sp>
        <p:nvSpPr>
          <p:cNvPr id="3" name="Content Placeholder 2">
            <a:extLst>
              <a:ext uri="{FF2B5EF4-FFF2-40B4-BE49-F238E27FC236}">
                <a16:creationId xmlns:a16="http://schemas.microsoft.com/office/drawing/2014/main" id="{335DCAEE-F620-53AD-E757-C810995C4A38}"/>
              </a:ext>
            </a:extLst>
          </p:cNvPr>
          <p:cNvSpPr>
            <a:spLocks noGrp="1"/>
          </p:cNvSpPr>
          <p:nvPr>
            <p:ph idx="1"/>
          </p:nvPr>
        </p:nvSpPr>
        <p:spPr>
          <a:xfrm>
            <a:off x="4900928" y="624016"/>
            <a:ext cx="6650991" cy="5789141"/>
          </a:xfrm>
        </p:spPr>
        <p:txBody>
          <a:bodyPr>
            <a:noAutofit/>
          </a:bodyPr>
          <a:lstStyle/>
          <a:p>
            <a:pPr marL="0" indent="0">
              <a:buNone/>
            </a:pPr>
            <a:r>
              <a:rPr lang="en-GB" sz="1800" b="1" dirty="0"/>
              <a:t>Core objectives</a:t>
            </a:r>
            <a:r>
              <a:rPr lang="en-GB" sz="1800" dirty="0"/>
              <a:t>:</a:t>
            </a:r>
          </a:p>
          <a:p>
            <a:r>
              <a:rPr lang="en-GB" sz="1800" dirty="0"/>
              <a:t>To </a:t>
            </a:r>
            <a:r>
              <a:rPr lang="en-GB" sz="1800" b="1" dirty="0"/>
              <a:t>build</a:t>
            </a:r>
            <a:r>
              <a:rPr lang="en-GB" sz="1800" dirty="0"/>
              <a:t> and </a:t>
            </a:r>
            <a:r>
              <a:rPr lang="en-GB" sz="1800" b="1" dirty="0"/>
              <a:t>configure</a:t>
            </a:r>
            <a:r>
              <a:rPr lang="en-GB" sz="1800" dirty="0"/>
              <a:t> both an </a:t>
            </a:r>
            <a:r>
              <a:rPr lang="en-GB" sz="1800" b="1" dirty="0"/>
              <a:t>ANN</a:t>
            </a:r>
            <a:r>
              <a:rPr lang="en-GB" sz="1800" dirty="0"/>
              <a:t> and </a:t>
            </a:r>
            <a:r>
              <a:rPr lang="en-GB" sz="1800" b="1" dirty="0"/>
              <a:t>CNN</a:t>
            </a:r>
            <a:r>
              <a:rPr lang="en-GB" sz="1800" dirty="0"/>
              <a:t> in Python using Google Colab and GitHub.</a:t>
            </a:r>
          </a:p>
          <a:p>
            <a:r>
              <a:rPr lang="en-GB" sz="1800" dirty="0"/>
              <a:t>To correctly </a:t>
            </a:r>
            <a:r>
              <a:rPr lang="en-GB" sz="1800" b="1" dirty="0"/>
              <a:t>load</a:t>
            </a:r>
            <a:r>
              <a:rPr lang="en-GB" sz="1800" dirty="0"/>
              <a:t>, </a:t>
            </a:r>
            <a:r>
              <a:rPr lang="en-GB" sz="1800" b="1" dirty="0"/>
              <a:t>preprocess</a:t>
            </a:r>
            <a:r>
              <a:rPr lang="en-GB" sz="1800" dirty="0"/>
              <a:t> and </a:t>
            </a:r>
            <a:r>
              <a:rPr lang="en-GB" sz="1800" b="1" dirty="0"/>
              <a:t>normalise</a:t>
            </a:r>
            <a:r>
              <a:rPr lang="en-GB" sz="1800" dirty="0"/>
              <a:t> the </a:t>
            </a:r>
            <a:r>
              <a:rPr lang="en-GB" sz="1800" b="1" dirty="0"/>
              <a:t>dataset</a:t>
            </a:r>
            <a:r>
              <a:rPr lang="en-GB" sz="1800" dirty="0"/>
              <a:t>, splitting it appropriately into </a:t>
            </a:r>
            <a:r>
              <a:rPr lang="en-GB" sz="1800" b="1" dirty="0"/>
              <a:t>training</a:t>
            </a:r>
            <a:r>
              <a:rPr lang="en-GB" sz="1800" dirty="0"/>
              <a:t>, </a:t>
            </a:r>
            <a:r>
              <a:rPr lang="en-GB" sz="1800" b="1" dirty="0"/>
              <a:t>testing</a:t>
            </a:r>
            <a:r>
              <a:rPr lang="en-GB" sz="1800" dirty="0"/>
              <a:t> and </a:t>
            </a:r>
            <a:r>
              <a:rPr lang="en-GB" sz="1800" b="1" dirty="0"/>
              <a:t>validation</a:t>
            </a:r>
            <a:r>
              <a:rPr lang="en-GB" sz="1800" dirty="0"/>
              <a:t> sets.</a:t>
            </a:r>
          </a:p>
          <a:p>
            <a:r>
              <a:rPr lang="en-GB" sz="1800" dirty="0"/>
              <a:t>To </a:t>
            </a:r>
            <a:r>
              <a:rPr lang="en-GB" sz="1800" b="1" dirty="0"/>
              <a:t>train</a:t>
            </a:r>
            <a:r>
              <a:rPr lang="en-GB" sz="1800" dirty="0"/>
              <a:t> and </a:t>
            </a:r>
            <a:r>
              <a:rPr lang="en-GB" sz="1800" b="1" dirty="0"/>
              <a:t>evaluate</a:t>
            </a:r>
            <a:r>
              <a:rPr lang="en-GB" sz="1800" dirty="0"/>
              <a:t> both models' performance using key metrics such as test accuracy, confusion matrices and plotting.</a:t>
            </a:r>
          </a:p>
          <a:p>
            <a:r>
              <a:rPr lang="en-GB" sz="1800" b="1" dirty="0"/>
              <a:t>Compare</a:t>
            </a:r>
            <a:r>
              <a:rPr lang="en-GB" sz="1800" dirty="0"/>
              <a:t> and </a:t>
            </a:r>
            <a:r>
              <a:rPr lang="en-GB" sz="1800" b="1" dirty="0"/>
              <a:t>analyse</a:t>
            </a:r>
            <a:r>
              <a:rPr lang="en-GB" sz="1800" dirty="0"/>
              <a:t> ANN and CNN results, suggesting areas for improvement.</a:t>
            </a:r>
          </a:p>
          <a:p>
            <a:pPr marL="0" indent="0">
              <a:buNone/>
            </a:pPr>
            <a:r>
              <a:rPr lang="en-GB" sz="1800" b="1" dirty="0"/>
              <a:t>Demonstration aims</a:t>
            </a:r>
            <a:r>
              <a:rPr lang="en-GB" sz="1800" dirty="0"/>
              <a:t>:</a:t>
            </a:r>
          </a:p>
          <a:p>
            <a:r>
              <a:rPr lang="en-GB" sz="1800" dirty="0"/>
              <a:t>Develop a </a:t>
            </a:r>
            <a:r>
              <a:rPr lang="en-GB" sz="1800" b="1" dirty="0"/>
              <a:t>practical understanding </a:t>
            </a:r>
            <a:r>
              <a:rPr lang="en-GB" sz="1800" dirty="0"/>
              <a:t>of how to build and train neural networks.</a:t>
            </a:r>
          </a:p>
          <a:p>
            <a:r>
              <a:rPr lang="en-GB" sz="1800" b="1" dirty="0"/>
              <a:t>Present</a:t>
            </a:r>
            <a:r>
              <a:rPr lang="en-GB" sz="1800" dirty="0"/>
              <a:t> </a:t>
            </a:r>
            <a:r>
              <a:rPr lang="en-GB" sz="1800" b="1" dirty="0"/>
              <a:t>clear, evidence-based findings </a:t>
            </a:r>
            <a:r>
              <a:rPr lang="en-GB" sz="1800" dirty="0"/>
              <a:t>on which architecture is more effective for image classification and why.</a:t>
            </a:r>
          </a:p>
          <a:p>
            <a:r>
              <a:rPr lang="en-GB" sz="1800" dirty="0"/>
              <a:t>An </a:t>
            </a:r>
            <a:r>
              <a:rPr lang="en-GB" sz="1800" b="1" dirty="0"/>
              <a:t>analysis</a:t>
            </a:r>
            <a:r>
              <a:rPr lang="en-GB" sz="1800" dirty="0"/>
              <a:t> of the models’ </a:t>
            </a:r>
            <a:r>
              <a:rPr lang="en-GB" sz="1800" b="1" dirty="0"/>
              <a:t>shortcomings</a:t>
            </a:r>
            <a:r>
              <a:rPr lang="en-GB" sz="1800" dirty="0"/>
              <a:t> and suggest </a:t>
            </a:r>
            <a:r>
              <a:rPr lang="en-GB" sz="1800" b="1" dirty="0"/>
              <a:t>possible  improvements</a:t>
            </a:r>
            <a:r>
              <a:rPr lang="en-GB" sz="1800" dirty="0"/>
              <a:t>.</a:t>
            </a:r>
          </a:p>
        </p:txBody>
      </p:sp>
      <p:sp>
        <p:nvSpPr>
          <p:cNvPr id="4" name="Text Placeholder 3">
            <a:extLst>
              <a:ext uri="{FF2B5EF4-FFF2-40B4-BE49-F238E27FC236}">
                <a16:creationId xmlns:a16="http://schemas.microsoft.com/office/drawing/2014/main" id="{06E6574B-F77F-6526-0967-5FC16F3461F7}"/>
              </a:ext>
            </a:extLst>
          </p:cNvPr>
          <p:cNvSpPr>
            <a:spLocks noGrp="1"/>
          </p:cNvSpPr>
          <p:nvPr>
            <p:ph type="body" sz="half" idx="2"/>
          </p:nvPr>
        </p:nvSpPr>
        <p:spPr/>
        <p:txBody>
          <a:bodyPr>
            <a:normAutofit/>
          </a:bodyPr>
          <a:lstStyle/>
          <a:p>
            <a:r>
              <a:rPr lang="en-GB" sz="1800" b="1" dirty="0"/>
              <a:t>Main aim</a:t>
            </a:r>
            <a:r>
              <a:rPr lang="en-GB" sz="1800" dirty="0"/>
              <a:t>: to successfully develop, test and compare two different neural network models (ANN and CNN) for the task of Fashion-MNIST image classification.</a:t>
            </a:r>
          </a:p>
        </p:txBody>
      </p:sp>
    </p:spTree>
    <p:extLst>
      <p:ext uri="{BB962C8B-B14F-4D97-AF65-F5344CB8AC3E}">
        <p14:creationId xmlns:p14="http://schemas.microsoft.com/office/powerpoint/2010/main" val="1774505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Rectangle 14">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F17D40E-0137-BD6E-88A6-79F7B9EBADF5}"/>
              </a:ext>
            </a:extLst>
          </p:cNvPr>
          <p:cNvSpPr>
            <a:spLocks noGrp="1"/>
          </p:cNvSpPr>
          <p:nvPr>
            <p:ph type="title"/>
          </p:nvPr>
        </p:nvSpPr>
        <p:spPr>
          <a:xfrm>
            <a:off x="673169" y="795051"/>
            <a:ext cx="3568661" cy="1188720"/>
          </a:xfrm>
        </p:spPr>
        <p:txBody>
          <a:bodyPr vert="horz" lIns="91440" tIns="45720" rIns="91440" bIns="45720" rtlCol="0" anchor="b">
            <a:normAutofit/>
          </a:bodyPr>
          <a:lstStyle/>
          <a:p>
            <a:r>
              <a:rPr lang="en-US" sz="2800" b="1" kern="1200" cap="all" dirty="0">
                <a:solidFill>
                  <a:schemeClr val="tx1">
                    <a:lumMod val="75000"/>
                    <a:lumOff val="25000"/>
                  </a:schemeClr>
                </a:solidFill>
                <a:latin typeface="+mj-lt"/>
                <a:ea typeface="+mj-ea"/>
                <a:cs typeface="+mj-cs"/>
              </a:rPr>
              <a:t>Methodology and approach</a:t>
            </a:r>
          </a:p>
        </p:txBody>
      </p:sp>
      <p:sp>
        <p:nvSpPr>
          <p:cNvPr id="19" name="Rectangle 18">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 Placeholder 3">
            <a:extLst>
              <a:ext uri="{FF2B5EF4-FFF2-40B4-BE49-F238E27FC236}">
                <a16:creationId xmlns:a16="http://schemas.microsoft.com/office/drawing/2014/main" id="{5C235740-7F72-51CF-0034-2E4B2A3AD767}"/>
              </a:ext>
            </a:extLst>
          </p:cNvPr>
          <p:cNvSpPr>
            <a:spLocks noGrp="1"/>
          </p:cNvSpPr>
          <p:nvPr>
            <p:ph type="body" sz="half" idx="2"/>
          </p:nvPr>
        </p:nvSpPr>
        <p:spPr>
          <a:xfrm>
            <a:off x="6493007" y="702156"/>
            <a:ext cx="4810205" cy="5307526"/>
          </a:xfrm>
        </p:spPr>
        <p:txBody>
          <a:bodyPr vert="horz" lIns="91440" tIns="45720" rIns="91440" bIns="45720" rtlCol="0" anchor="ctr">
            <a:noAutofit/>
          </a:bodyPr>
          <a:lstStyle/>
          <a:p>
            <a:r>
              <a:rPr lang="en-US" sz="1800" b="1" dirty="0"/>
              <a:t>Project workflow:</a:t>
            </a:r>
          </a:p>
          <a:p>
            <a:pPr marL="342900" indent="-342900">
              <a:buFont typeface="+mj-lt"/>
              <a:buAutoNum type="arabicParenR"/>
            </a:pPr>
            <a:r>
              <a:rPr lang="en-US" sz="1800" dirty="0"/>
              <a:t>Data loading, preprocessing &amp; splitting.</a:t>
            </a:r>
          </a:p>
          <a:p>
            <a:pPr marL="342900" indent="-342900">
              <a:buFont typeface="+mj-lt"/>
              <a:buAutoNum type="arabicParenR"/>
            </a:pPr>
            <a:r>
              <a:rPr lang="en-US" sz="1800" dirty="0"/>
              <a:t>Model implementation: ANN &amp; CNN.</a:t>
            </a:r>
          </a:p>
          <a:p>
            <a:pPr marL="342900" indent="-342900">
              <a:buFont typeface="+mj-lt"/>
              <a:buAutoNum type="arabicParenR"/>
            </a:pPr>
            <a:r>
              <a:rPr lang="en-US" sz="1800" dirty="0"/>
              <a:t>Train both models on the training set, using validation set to monitor for overfitting.</a:t>
            </a:r>
          </a:p>
          <a:p>
            <a:pPr marL="342900" indent="-342900">
              <a:buFont typeface="+mj-lt"/>
              <a:buAutoNum type="arabicParenR"/>
            </a:pPr>
            <a:r>
              <a:rPr lang="en-GB" sz="1800" dirty="0"/>
              <a:t>Final evaluation and comparison: test both models on unseen data. </a:t>
            </a:r>
          </a:p>
          <a:p>
            <a:r>
              <a:rPr lang="en-US" sz="1800" b="1" dirty="0"/>
              <a:t>Tools:</a:t>
            </a:r>
          </a:p>
          <a:p>
            <a:pPr>
              <a:buFont typeface="Wingdings 2" panose="05020102010507070707" pitchFamily="18" charset="2"/>
              <a:buChar char=""/>
            </a:pPr>
            <a:r>
              <a:rPr lang="en-US" sz="1800" dirty="0"/>
              <a:t>Language: Python 3.</a:t>
            </a:r>
          </a:p>
          <a:p>
            <a:pPr>
              <a:buFont typeface="Wingdings 2" panose="05020102010507070707" pitchFamily="18" charset="2"/>
              <a:buChar char=""/>
            </a:pPr>
            <a:r>
              <a:rPr lang="en-US" sz="1800" dirty="0"/>
              <a:t>Core Libraries: </a:t>
            </a:r>
            <a:r>
              <a:rPr lang="en-US" sz="1800" dirty="0" err="1"/>
              <a:t>torch.nn</a:t>
            </a:r>
            <a:r>
              <a:rPr lang="en-US" sz="1800" dirty="0"/>
              <a:t>, </a:t>
            </a:r>
            <a:r>
              <a:rPr lang="en-US" sz="1800" dirty="0" err="1"/>
              <a:t>torch.optim</a:t>
            </a:r>
            <a:r>
              <a:rPr lang="en-US" sz="1800" dirty="0"/>
              <a:t>, </a:t>
            </a:r>
            <a:r>
              <a:rPr lang="en-US" sz="1800" dirty="0" err="1"/>
              <a:t>torchvision</a:t>
            </a:r>
            <a:r>
              <a:rPr lang="en-US" sz="1800" dirty="0"/>
              <a:t>.</a:t>
            </a:r>
          </a:p>
          <a:p>
            <a:pPr>
              <a:buFont typeface="Wingdings 2" panose="05020102010507070707" pitchFamily="18" charset="2"/>
              <a:buChar char=""/>
            </a:pPr>
            <a:r>
              <a:rPr lang="en-US" sz="1800" dirty="0"/>
              <a:t>Evaluation: scikit-learn (for classification and confusion matrices).</a:t>
            </a:r>
          </a:p>
          <a:p>
            <a:pPr>
              <a:buFont typeface="Wingdings 2" panose="05020102010507070707" pitchFamily="18" charset="2"/>
              <a:buChar char=""/>
            </a:pPr>
            <a:r>
              <a:rPr lang="en-GB" sz="1800" dirty="0"/>
              <a:t>Visualisation: Matplotlib and Seaborn.</a:t>
            </a:r>
            <a:endParaRPr lang="en-US" sz="1800" dirty="0"/>
          </a:p>
        </p:txBody>
      </p:sp>
      <p:pic>
        <p:nvPicPr>
          <p:cNvPr id="6" name="Picture Placeholder 5" descr="Blue abstract design with square in middle and lines">
            <a:extLst>
              <a:ext uri="{FF2B5EF4-FFF2-40B4-BE49-F238E27FC236}">
                <a16:creationId xmlns:a16="http://schemas.microsoft.com/office/drawing/2014/main" id="{1FE2BB4D-C950-E2C5-392C-D64B9DBE3485}"/>
              </a:ext>
            </a:extLst>
          </p:cNvPr>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l="13461" r="15922" b="1"/>
          <a:stretch>
            <a:fillRect/>
          </a:stretch>
        </p:blipFill>
        <p:spPr>
          <a:xfrm>
            <a:off x="609906" y="2239405"/>
            <a:ext cx="4396484" cy="4000029"/>
          </a:xfrm>
          <a:prstGeom prst="rect">
            <a:avLst/>
          </a:prstGeom>
        </p:spPr>
      </p:pic>
    </p:spTree>
    <p:extLst>
      <p:ext uri="{BB962C8B-B14F-4D97-AF65-F5344CB8AC3E}">
        <p14:creationId xmlns:p14="http://schemas.microsoft.com/office/powerpoint/2010/main" val="159938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5" name="Rectangle 34">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Rectangle 35">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7" name="Rectangle 36">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109D3E8-2192-1081-1240-D7E8A14BD0B2}"/>
              </a:ext>
            </a:extLst>
          </p:cNvPr>
          <p:cNvSpPr>
            <a:spLocks noGrp="1"/>
          </p:cNvSpPr>
          <p:nvPr>
            <p:ph type="title"/>
          </p:nvPr>
        </p:nvSpPr>
        <p:spPr>
          <a:xfrm>
            <a:off x="576172" y="87434"/>
            <a:ext cx="3568661" cy="1188720"/>
          </a:xfrm>
        </p:spPr>
        <p:txBody>
          <a:bodyPr vert="horz" lIns="91440" tIns="45720" rIns="91440" bIns="45720" rtlCol="0" anchor="b">
            <a:normAutofit/>
          </a:bodyPr>
          <a:lstStyle/>
          <a:p>
            <a:r>
              <a:rPr lang="en-US" b="1" kern="1200" cap="all" dirty="0">
                <a:solidFill>
                  <a:schemeClr val="tx1">
                    <a:lumMod val="75000"/>
                    <a:lumOff val="25000"/>
                  </a:schemeClr>
                </a:solidFill>
                <a:latin typeface="+mj-lt"/>
                <a:ea typeface="+mj-ea"/>
                <a:cs typeface="+mj-cs"/>
              </a:rPr>
              <a:t>Data/materials/inputs</a:t>
            </a:r>
          </a:p>
        </p:txBody>
      </p:sp>
      <p:sp>
        <p:nvSpPr>
          <p:cNvPr id="38" name="Rectangle 37">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 Placeholder 3">
            <a:extLst>
              <a:ext uri="{FF2B5EF4-FFF2-40B4-BE49-F238E27FC236}">
                <a16:creationId xmlns:a16="http://schemas.microsoft.com/office/drawing/2014/main" id="{FCF31E20-F385-7BF8-4458-077B030A1C96}"/>
              </a:ext>
            </a:extLst>
          </p:cNvPr>
          <p:cNvSpPr>
            <a:spLocks noGrp="1"/>
          </p:cNvSpPr>
          <p:nvPr>
            <p:ph type="body" sz="half" idx="2"/>
          </p:nvPr>
        </p:nvSpPr>
        <p:spPr>
          <a:xfrm>
            <a:off x="576172" y="1490703"/>
            <a:ext cx="3703320" cy="4825573"/>
          </a:xfrm>
        </p:spPr>
        <p:txBody>
          <a:bodyPr vert="horz" lIns="91440" tIns="45720" rIns="91440" bIns="45720" rtlCol="0" anchor="ctr">
            <a:noAutofit/>
          </a:bodyPr>
          <a:lstStyle/>
          <a:p>
            <a:pPr>
              <a:buFont typeface="Wingdings 2" panose="05020102010507070707" pitchFamily="18" charset="2"/>
              <a:buChar char=""/>
            </a:pPr>
            <a:r>
              <a:rPr lang="en-US" sz="1800" dirty="0"/>
              <a:t>Dataset loaded via ‘keras.datasets’.</a:t>
            </a:r>
          </a:p>
          <a:p>
            <a:pPr>
              <a:buFont typeface="Wingdings 2" panose="05020102010507070707" pitchFamily="18" charset="2"/>
              <a:buChar char=""/>
            </a:pPr>
            <a:r>
              <a:rPr lang="en-US" sz="1800" dirty="0"/>
              <a:t>The 70,000 images are split into training (50,000), test (10,000) and validation (10,000) sets.</a:t>
            </a:r>
          </a:p>
          <a:p>
            <a:r>
              <a:rPr lang="en-US" sz="1800" b="1" dirty="0"/>
              <a:t>Preprocessing:</a:t>
            </a:r>
          </a:p>
          <a:p>
            <a:pPr>
              <a:buFont typeface="Wingdings 2" panose="05020102010507070707" pitchFamily="18" charset="2"/>
              <a:buChar char=""/>
            </a:pPr>
            <a:r>
              <a:rPr lang="en-US" sz="1800" dirty="0"/>
              <a:t>Pixel values are normalised from [0, 255] range to [0, 1].</a:t>
            </a:r>
          </a:p>
          <a:p>
            <a:pPr>
              <a:buFont typeface="Wingdings 2" panose="05020102010507070707" pitchFamily="18" charset="2"/>
              <a:buChar char=""/>
            </a:pPr>
            <a:r>
              <a:rPr lang="en-US" sz="1800" dirty="0"/>
              <a:t>Class labels (0-9) were one-hot encoded.</a:t>
            </a:r>
          </a:p>
          <a:p>
            <a:pPr>
              <a:buFont typeface="Wingdings 2" panose="05020102010507070707" pitchFamily="18" charset="2"/>
              <a:buChar char=""/>
            </a:pPr>
            <a:r>
              <a:rPr lang="en-GB" sz="1800" dirty="0"/>
              <a:t>Data augmentation was applied in the CNN model to increase the size and diversity of the training set, helping to reduce overfitting.</a:t>
            </a:r>
            <a:endParaRPr lang="en-US" sz="1800" dirty="0"/>
          </a:p>
        </p:txBody>
      </p:sp>
      <p:pic>
        <p:nvPicPr>
          <p:cNvPr id="10" name="Picture Placeholder 9" descr="A collage of different clothing&#10;&#10;AI-generated content may be incorrect.">
            <a:extLst>
              <a:ext uri="{FF2B5EF4-FFF2-40B4-BE49-F238E27FC236}">
                <a16:creationId xmlns:a16="http://schemas.microsoft.com/office/drawing/2014/main" id="{CD38D7F9-10CA-C628-774B-AEA6F8EF584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4" b="11786"/>
          <a:stretch>
            <a:fillRect/>
          </a:stretch>
        </p:blipFill>
        <p:spPr>
          <a:xfrm>
            <a:off x="5212129" y="373254"/>
            <a:ext cx="6602814" cy="6007403"/>
          </a:xfrm>
          <a:prstGeom prst="rect">
            <a:avLst/>
          </a:prstGeom>
        </p:spPr>
      </p:pic>
    </p:spTree>
    <p:extLst>
      <p:ext uri="{BB962C8B-B14F-4D97-AF65-F5344CB8AC3E}">
        <p14:creationId xmlns:p14="http://schemas.microsoft.com/office/powerpoint/2010/main" val="89638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10015B9-6046-41B8-83BD-71778D2F9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53908232-52E2-4794-A6C1-54300FB98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Rectangle 35">
            <a:extLst>
              <a:ext uri="{FF2B5EF4-FFF2-40B4-BE49-F238E27FC236}">
                <a16:creationId xmlns:a16="http://schemas.microsoft.com/office/drawing/2014/main" id="{D2B9299F-BED7-44C5-9CC5-E542F9193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8" name="Rectangle 37">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C91E1A18-F72F-F090-13AD-3C0CC5D8A635}"/>
              </a:ext>
            </a:extLst>
          </p:cNvPr>
          <p:cNvPicPr>
            <a:picLocks noChangeAspect="1"/>
          </p:cNvPicPr>
          <p:nvPr/>
        </p:nvPicPr>
        <p:blipFill>
          <a:blip r:embed="rId3"/>
          <a:stretch>
            <a:fillRect/>
          </a:stretch>
        </p:blipFill>
        <p:spPr>
          <a:xfrm>
            <a:off x="446532" y="32676"/>
            <a:ext cx="5202933" cy="4134079"/>
          </a:xfrm>
          <a:prstGeom prst="rect">
            <a:avLst/>
          </a:prstGeom>
        </p:spPr>
      </p:pic>
      <p:cxnSp>
        <p:nvCxnSpPr>
          <p:cNvPr id="40" name="Straight Connector 39">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6D8A389-6FC2-D3A8-C507-637B9C7D9991}"/>
              </a:ext>
            </a:extLst>
          </p:cNvPr>
          <p:cNvPicPr>
            <a:picLocks noChangeAspect="1"/>
          </p:cNvPicPr>
          <p:nvPr/>
        </p:nvPicPr>
        <p:blipFill>
          <a:blip r:embed="rId4"/>
          <a:stretch>
            <a:fillRect/>
          </a:stretch>
        </p:blipFill>
        <p:spPr>
          <a:xfrm>
            <a:off x="6542536" y="32676"/>
            <a:ext cx="4026939" cy="4130194"/>
          </a:xfrm>
          <a:prstGeom prst="rect">
            <a:avLst/>
          </a:prstGeom>
        </p:spPr>
      </p:pic>
      <p:sp>
        <p:nvSpPr>
          <p:cNvPr id="42" name="Rectangle 41">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4" name="Rectangle 43">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84B2D81-6711-EAD2-DF65-A4DC7A42EB3E}"/>
              </a:ext>
            </a:extLst>
          </p:cNvPr>
          <p:cNvSpPr>
            <a:spLocks noGrp="1"/>
          </p:cNvSpPr>
          <p:nvPr>
            <p:ph type="title"/>
          </p:nvPr>
        </p:nvSpPr>
        <p:spPr>
          <a:xfrm>
            <a:off x="441140" y="4536420"/>
            <a:ext cx="3016420" cy="1562849"/>
          </a:xfrm>
        </p:spPr>
        <p:txBody>
          <a:bodyPr vert="horz" lIns="91440" tIns="45720" rIns="91440" bIns="45720" rtlCol="0" anchor="ctr">
            <a:normAutofit/>
          </a:bodyPr>
          <a:lstStyle/>
          <a:p>
            <a:r>
              <a:rPr lang="en-US" sz="2800" b="1" kern="1200" cap="all" dirty="0">
                <a:solidFill>
                  <a:srgbClr val="FFFFFF"/>
                </a:solidFill>
                <a:latin typeface="+mj-lt"/>
                <a:ea typeface="+mj-ea"/>
                <a:cs typeface="+mj-cs"/>
              </a:rPr>
              <a:t>Implementation and process</a:t>
            </a:r>
          </a:p>
        </p:txBody>
      </p:sp>
      <p:sp>
        <p:nvSpPr>
          <p:cNvPr id="4" name="Text Placeholder 3">
            <a:extLst>
              <a:ext uri="{FF2B5EF4-FFF2-40B4-BE49-F238E27FC236}">
                <a16:creationId xmlns:a16="http://schemas.microsoft.com/office/drawing/2014/main" id="{87CAE033-E401-B6C6-9EB1-1A6FD8CEC133}"/>
              </a:ext>
            </a:extLst>
          </p:cNvPr>
          <p:cNvSpPr>
            <a:spLocks noGrp="1"/>
          </p:cNvSpPr>
          <p:nvPr>
            <p:ph type="body" sz="half" idx="2"/>
          </p:nvPr>
        </p:nvSpPr>
        <p:spPr>
          <a:xfrm>
            <a:off x="3244850" y="4366722"/>
            <a:ext cx="8499916" cy="2044044"/>
          </a:xfrm>
        </p:spPr>
        <p:txBody>
          <a:bodyPr vert="horz" lIns="91440" tIns="45720" rIns="91440" bIns="45720" rtlCol="0" anchor="ctr">
            <a:noAutofit/>
          </a:bodyPr>
          <a:lstStyle/>
          <a:p>
            <a:pPr>
              <a:lnSpc>
                <a:spcPct val="100000"/>
              </a:lnSpc>
              <a:spcBef>
                <a:spcPts val="300"/>
              </a:spcBef>
              <a:spcAft>
                <a:spcPts val="300"/>
              </a:spcAft>
              <a:buFont typeface="Wingdings 2" panose="05020102010507070707" pitchFamily="18" charset="2"/>
              <a:buChar char=""/>
            </a:pPr>
            <a:r>
              <a:rPr lang="en-US" sz="1500" b="1" dirty="0">
                <a:solidFill>
                  <a:schemeClr val="bg1"/>
                </a:solidFill>
              </a:rPr>
              <a:t>ANN (Multilayer Perceptron) implementation</a:t>
            </a:r>
            <a:r>
              <a:rPr lang="en-US" sz="1500" dirty="0">
                <a:solidFill>
                  <a:schemeClr val="bg1"/>
                </a:solidFill>
              </a:rPr>
              <a:t>: Input images were </a:t>
            </a:r>
            <a:r>
              <a:rPr lang="en-US" sz="1500" b="1" dirty="0">
                <a:solidFill>
                  <a:schemeClr val="bg1"/>
                </a:solidFill>
              </a:rPr>
              <a:t>flattened</a:t>
            </a:r>
            <a:r>
              <a:rPr lang="en-US" sz="1500" dirty="0">
                <a:solidFill>
                  <a:schemeClr val="bg1"/>
                </a:solidFill>
              </a:rPr>
              <a:t> to a </a:t>
            </a:r>
            <a:r>
              <a:rPr lang="en-US" sz="1500" b="1" dirty="0">
                <a:solidFill>
                  <a:schemeClr val="bg1"/>
                </a:solidFill>
              </a:rPr>
              <a:t>1D vector </a:t>
            </a:r>
            <a:r>
              <a:rPr lang="en-US" sz="1500" dirty="0">
                <a:solidFill>
                  <a:schemeClr val="bg1"/>
                </a:solidFill>
              </a:rPr>
              <a:t>of 784 pixels; </a:t>
            </a:r>
            <a:r>
              <a:rPr lang="en-GB" sz="1500" dirty="0">
                <a:solidFill>
                  <a:schemeClr val="bg1"/>
                </a:solidFill>
              </a:rPr>
              <a:t>each neuron in a layer is fully connected to all neurons in the previous layer</a:t>
            </a:r>
            <a:r>
              <a:rPr lang="en-US" sz="1500" dirty="0">
                <a:solidFill>
                  <a:schemeClr val="bg1"/>
                </a:solidFill>
              </a:rPr>
              <a:t>. </a:t>
            </a:r>
            <a:r>
              <a:rPr lang="en-GB" sz="1500" b="1" dirty="0">
                <a:solidFill>
                  <a:schemeClr val="bg1"/>
                </a:solidFill>
              </a:rPr>
              <a:t>The </a:t>
            </a:r>
            <a:r>
              <a:rPr lang="en-GB" sz="1500" b="1" dirty="0" err="1">
                <a:solidFill>
                  <a:schemeClr val="bg1"/>
                </a:solidFill>
              </a:rPr>
              <a:t>ReLU</a:t>
            </a:r>
            <a:r>
              <a:rPr lang="en-GB" sz="1500" dirty="0">
                <a:solidFill>
                  <a:schemeClr val="bg1"/>
                </a:solidFill>
              </a:rPr>
              <a:t> activation function is used in the hidden layers to introduce </a:t>
            </a:r>
            <a:r>
              <a:rPr lang="en-GB" sz="1500" b="1" dirty="0">
                <a:solidFill>
                  <a:schemeClr val="bg1"/>
                </a:solidFill>
              </a:rPr>
              <a:t>nonlinearity,</a:t>
            </a:r>
            <a:r>
              <a:rPr lang="en-GB" sz="1500" dirty="0">
                <a:solidFill>
                  <a:schemeClr val="bg1"/>
                </a:solidFill>
              </a:rPr>
              <a:t> and </a:t>
            </a:r>
            <a:r>
              <a:rPr lang="en-GB" sz="1500" b="1" dirty="0">
                <a:solidFill>
                  <a:schemeClr val="bg1"/>
                </a:solidFill>
              </a:rPr>
              <a:t>the </a:t>
            </a:r>
            <a:r>
              <a:rPr lang="en-GB" sz="1500" b="1" dirty="0" err="1">
                <a:solidFill>
                  <a:schemeClr val="bg1"/>
                </a:solidFill>
              </a:rPr>
              <a:t>Softmax</a:t>
            </a:r>
            <a:r>
              <a:rPr lang="en-GB" sz="1500" dirty="0">
                <a:solidFill>
                  <a:schemeClr val="bg1"/>
                </a:solidFill>
              </a:rPr>
              <a:t> activation function is used in the output layer to model </a:t>
            </a:r>
            <a:r>
              <a:rPr lang="en-GB" sz="1500" b="1" dirty="0">
                <a:solidFill>
                  <a:schemeClr val="bg1"/>
                </a:solidFill>
              </a:rPr>
              <a:t>probabilities</a:t>
            </a:r>
            <a:r>
              <a:rPr lang="en-GB" sz="1500" dirty="0">
                <a:solidFill>
                  <a:schemeClr val="bg1"/>
                </a:solidFill>
              </a:rPr>
              <a:t>.</a:t>
            </a:r>
            <a:r>
              <a:rPr lang="en-US" sz="1500" dirty="0">
                <a:solidFill>
                  <a:schemeClr val="bg1"/>
                </a:solidFill>
              </a:rPr>
              <a:t>Network is compiled using </a:t>
            </a:r>
            <a:r>
              <a:rPr lang="en-US" sz="1500" b="1" dirty="0">
                <a:solidFill>
                  <a:schemeClr val="bg1"/>
                </a:solidFill>
              </a:rPr>
              <a:t>Adam</a:t>
            </a:r>
            <a:r>
              <a:rPr lang="en-US" sz="1500" dirty="0">
                <a:solidFill>
                  <a:schemeClr val="bg1"/>
                </a:solidFill>
              </a:rPr>
              <a:t> </a:t>
            </a:r>
            <a:r>
              <a:rPr lang="en-US" sz="1500" dirty="0" err="1">
                <a:solidFill>
                  <a:schemeClr val="bg1"/>
                </a:solidFill>
              </a:rPr>
              <a:t>optimiser</a:t>
            </a:r>
            <a:r>
              <a:rPr lang="en-US" sz="1500" dirty="0">
                <a:solidFill>
                  <a:schemeClr val="bg1"/>
                </a:solidFill>
              </a:rPr>
              <a:t> and </a:t>
            </a:r>
            <a:r>
              <a:rPr lang="en-US" sz="1500" b="1" dirty="0">
                <a:solidFill>
                  <a:schemeClr val="bg1"/>
                </a:solidFill>
              </a:rPr>
              <a:t>categorical cross-entropy </a:t>
            </a:r>
            <a:r>
              <a:rPr lang="en-US" sz="1500" dirty="0">
                <a:solidFill>
                  <a:schemeClr val="bg1"/>
                </a:solidFill>
              </a:rPr>
              <a:t>loss function.</a:t>
            </a:r>
          </a:p>
          <a:p>
            <a:pPr>
              <a:lnSpc>
                <a:spcPct val="100000"/>
              </a:lnSpc>
              <a:spcBef>
                <a:spcPts val="300"/>
              </a:spcBef>
              <a:spcAft>
                <a:spcPts val="300"/>
              </a:spcAft>
              <a:buFont typeface="Wingdings 2" panose="05020102010507070707" pitchFamily="18" charset="2"/>
              <a:buChar char=""/>
            </a:pPr>
            <a:r>
              <a:rPr lang="en-US" sz="1500" b="1" dirty="0">
                <a:solidFill>
                  <a:schemeClr val="bg1"/>
                </a:solidFill>
              </a:rPr>
              <a:t>CNN implementation: </a:t>
            </a:r>
            <a:r>
              <a:rPr lang="en-US" sz="1500" dirty="0">
                <a:solidFill>
                  <a:schemeClr val="bg1"/>
                </a:solidFill>
              </a:rPr>
              <a:t>input models were kept as 2D to preserve spatial data. Augmented data was added to the first layer. </a:t>
            </a:r>
            <a:r>
              <a:rPr lang="en-GB" sz="1500" dirty="0">
                <a:solidFill>
                  <a:schemeClr val="bg1"/>
                </a:solidFill>
              </a:rPr>
              <a:t>Multiple convolutional layers with </a:t>
            </a:r>
            <a:r>
              <a:rPr lang="en-GB" sz="1500" dirty="0" err="1">
                <a:solidFill>
                  <a:schemeClr val="bg1"/>
                </a:solidFill>
              </a:rPr>
              <a:t>ReLU</a:t>
            </a:r>
            <a:r>
              <a:rPr lang="en-GB" sz="1500" dirty="0">
                <a:solidFill>
                  <a:schemeClr val="bg1"/>
                </a:solidFill>
              </a:rPr>
              <a:t> activation are used to learn hierarchical features </a:t>
            </a:r>
            <a:r>
              <a:rPr lang="en-US" sz="1500" dirty="0">
                <a:solidFill>
                  <a:schemeClr val="bg1"/>
                </a:solidFill>
              </a:rPr>
              <a:t>and max pooling to </a:t>
            </a:r>
            <a:r>
              <a:rPr lang="en-US" sz="1500" dirty="0" err="1">
                <a:solidFill>
                  <a:schemeClr val="bg1"/>
                </a:solidFill>
              </a:rPr>
              <a:t>downsample</a:t>
            </a:r>
            <a:r>
              <a:rPr lang="en-US" sz="1500" dirty="0">
                <a:solidFill>
                  <a:schemeClr val="bg1"/>
                </a:solidFill>
              </a:rPr>
              <a:t> the feature map, before the data is flattened into a 1D vector for the dense layers to apply </a:t>
            </a:r>
            <a:r>
              <a:rPr lang="en-US" sz="1500" dirty="0" err="1">
                <a:solidFill>
                  <a:schemeClr val="bg1"/>
                </a:solidFill>
              </a:rPr>
              <a:t>ReLU</a:t>
            </a:r>
            <a:r>
              <a:rPr lang="en-US" sz="1500" dirty="0">
                <a:solidFill>
                  <a:schemeClr val="bg1"/>
                </a:solidFill>
              </a:rPr>
              <a:t> and SoftMax.</a:t>
            </a:r>
          </a:p>
        </p:txBody>
      </p:sp>
    </p:spTree>
    <p:extLst>
      <p:ext uri="{BB962C8B-B14F-4D97-AF65-F5344CB8AC3E}">
        <p14:creationId xmlns:p14="http://schemas.microsoft.com/office/powerpoint/2010/main" val="3578862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E17528E-64F3-C8FD-0921-C141DA65C822}"/>
              </a:ext>
            </a:extLst>
          </p:cNvPr>
          <p:cNvPicPr>
            <a:picLocks noChangeAspect="1"/>
          </p:cNvPicPr>
          <p:nvPr/>
        </p:nvPicPr>
        <p:blipFill>
          <a:blip r:embed="rId2"/>
          <a:stretch>
            <a:fillRect/>
          </a:stretch>
        </p:blipFill>
        <p:spPr>
          <a:xfrm>
            <a:off x="539419" y="236045"/>
            <a:ext cx="5045395" cy="3948021"/>
          </a:xfrm>
          <a:prstGeom prst="rect">
            <a:avLst/>
          </a:prstGeom>
        </p:spPr>
      </p:pic>
      <p:pic>
        <p:nvPicPr>
          <p:cNvPr id="10" name="Picture 9">
            <a:extLst>
              <a:ext uri="{FF2B5EF4-FFF2-40B4-BE49-F238E27FC236}">
                <a16:creationId xmlns:a16="http://schemas.microsoft.com/office/drawing/2014/main" id="{459040E0-B7D7-BBFA-292D-70761CD9F7C7}"/>
              </a:ext>
            </a:extLst>
          </p:cNvPr>
          <p:cNvPicPr>
            <a:picLocks noChangeAspect="1"/>
          </p:cNvPicPr>
          <p:nvPr/>
        </p:nvPicPr>
        <p:blipFill>
          <a:blip r:embed="rId3"/>
          <a:stretch>
            <a:fillRect/>
          </a:stretch>
        </p:blipFill>
        <p:spPr>
          <a:xfrm>
            <a:off x="6202075" y="303820"/>
            <a:ext cx="4875829" cy="3766578"/>
          </a:xfrm>
          <a:prstGeom prst="rect">
            <a:avLst/>
          </a:prstGeom>
        </p:spPr>
      </p:pic>
      <p:sp>
        <p:nvSpPr>
          <p:cNvPr id="33" name="Rectangle 32">
            <a:extLst>
              <a:ext uri="{FF2B5EF4-FFF2-40B4-BE49-F238E27FC236}">
                <a16:creationId xmlns:a16="http://schemas.microsoft.com/office/drawing/2014/main" id="{D695E25C-06E7-4082-BE92-B571B616B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297735"/>
            <a:ext cx="1126540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E64BD7DF-F4BB-427F-B4F6-6DC83A59A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itle 2">
            <a:extLst>
              <a:ext uri="{FF2B5EF4-FFF2-40B4-BE49-F238E27FC236}">
                <a16:creationId xmlns:a16="http://schemas.microsoft.com/office/drawing/2014/main" id="{12182B34-2CD9-9880-E8BE-E021B68D9BBA}"/>
              </a:ext>
            </a:extLst>
          </p:cNvPr>
          <p:cNvSpPr>
            <a:spLocks noGrp="1"/>
          </p:cNvSpPr>
          <p:nvPr>
            <p:ph type="ctrTitle"/>
          </p:nvPr>
        </p:nvSpPr>
        <p:spPr>
          <a:xfrm>
            <a:off x="609598" y="4070398"/>
            <a:ext cx="10965141" cy="895244"/>
          </a:xfrm>
        </p:spPr>
        <p:txBody>
          <a:bodyPr>
            <a:normAutofit/>
          </a:bodyPr>
          <a:lstStyle/>
          <a:p>
            <a:r>
              <a:rPr lang="en-GB" sz="2800" b="1" dirty="0">
                <a:solidFill>
                  <a:srgbClr val="FFFFFF"/>
                </a:solidFill>
              </a:rPr>
              <a:t>Results and findings</a:t>
            </a:r>
          </a:p>
        </p:txBody>
      </p:sp>
      <p:sp>
        <p:nvSpPr>
          <p:cNvPr id="4" name="Subtitle 3">
            <a:extLst>
              <a:ext uri="{FF2B5EF4-FFF2-40B4-BE49-F238E27FC236}">
                <a16:creationId xmlns:a16="http://schemas.microsoft.com/office/drawing/2014/main" id="{012755EC-854C-83BF-1280-29FC79209B3C}"/>
              </a:ext>
            </a:extLst>
          </p:cNvPr>
          <p:cNvSpPr>
            <a:spLocks noGrp="1"/>
          </p:cNvSpPr>
          <p:nvPr>
            <p:ph type="subTitle" idx="1"/>
          </p:nvPr>
        </p:nvSpPr>
        <p:spPr>
          <a:xfrm>
            <a:off x="609598" y="4967398"/>
            <a:ext cx="10965141" cy="1211122"/>
          </a:xfrm>
        </p:spPr>
        <p:txBody>
          <a:bodyPr>
            <a:noAutofit/>
          </a:bodyPr>
          <a:lstStyle/>
          <a:p>
            <a:r>
              <a:rPr lang="en-GB" sz="1800" cap="none" dirty="0">
                <a:solidFill>
                  <a:schemeClr val="bg1"/>
                </a:solidFill>
              </a:rPr>
              <a:t>The ANN Achieved An Overall Test Accuracy Of </a:t>
            </a:r>
            <a:r>
              <a:rPr lang="en-GB" sz="1800" b="1" cap="none" dirty="0">
                <a:solidFill>
                  <a:schemeClr val="bg1"/>
                </a:solidFill>
              </a:rPr>
              <a:t>88.31%</a:t>
            </a:r>
            <a:r>
              <a:rPr lang="en-GB" sz="1800" cap="none" dirty="0">
                <a:solidFill>
                  <a:schemeClr val="bg1"/>
                </a:solidFill>
              </a:rPr>
              <a:t>, While The CNN Achieved </a:t>
            </a:r>
            <a:r>
              <a:rPr lang="en-GB" sz="1800" b="1" cap="none" dirty="0">
                <a:solidFill>
                  <a:schemeClr val="bg1"/>
                </a:solidFill>
              </a:rPr>
              <a:t>87.77%</a:t>
            </a:r>
            <a:r>
              <a:rPr lang="en-GB" sz="1800" cap="none" dirty="0">
                <a:solidFill>
                  <a:schemeClr val="bg1"/>
                </a:solidFill>
              </a:rPr>
              <a:t>. The ANN’s Validation Accuracy Peaked At 89% (Epoch 11), With The Best Weights Restored From Epoch 10 (Val Loss: 0.3103). The CNN's Validation Accuracy Peaked At 87.9%, With The Best Weights Restored From Epoch 15 (Val Loss: 0.3385).</a:t>
            </a:r>
          </a:p>
        </p:txBody>
      </p:sp>
    </p:spTree>
    <p:extLst>
      <p:ext uri="{BB962C8B-B14F-4D97-AF65-F5344CB8AC3E}">
        <p14:creationId xmlns:p14="http://schemas.microsoft.com/office/powerpoint/2010/main" val="278149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8417020-DD8B-56C4-0E0C-5D9A06845C59}"/>
              </a:ext>
            </a:extLst>
          </p:cNvPr>
          <p:cNvSpPr>
            <a:spLocks noGrp="1"/>
          </p:cNvSpPr>
          <p:nvPr>
            <p:ph type="ctrTitle"/>
          </p:nvPr>
        </p:nvSpPr>
        <p:spPr>
          <a:xfrm>
            <a:off x="668077" y="399570"/>
            <a:ext cx="4320227" cy="1398378"/>
          </a:xfrm>
        </p:spPr>
        <p:txBody>
          <a:bodyPr>
            <a:normAutofit/>
          </a:bodyPr>
          <a:lstStyle/>
          <a:p>
            <a:r>
              <a:rPr lang="en-GB" sz="2800" b="1" dirty="0">
                <a:solidFill>
                  <a:srgbClr val="FFFFFF"/>
                </a:solidFill>
              </a:rPr>
              <a:t>Discussion and interpretation</a:t>
            </a:r>
          </a:p>
        </p:txBody>
      </p:sp>
      <p:sp>
        <p:nvSpPr>
          <p:cNvPr id="3" name="Subtitle 2">
            <a:extLst>
              <a:ext uri="{FF2B5EF4-FFF2-40B4-BE49-F238E27FC236}">
                <a16:creationId xmlns:a16="http://schemas.microsoft.com/office/drawing/2014/main" id="{2CA309CD-155E-05D9-122B-313325102FA0}"/>
              </a:ext>
            </a:extLst>
          </p:cNvPr>
          <p:cNvSpPr>
            <a:spLocks noGrp="1"/>
          </p:cNvSpPr>
          <p:nvPr>
            <p:ph type="subTitle" idx="1"/>
          </p:nvPr>
        </p:nvSpPr>
        <p:spPr>
          <a:xfrm>
            <a:off x="744916" y="1971130"/>
            <a:ext cx="4444843" cy="4129993"/>
          </a:xfrm>
        </p:spPr>
        <p:txBody>
          <a:bodyPr>
            <a:normAutofit/>
          </a:bodyPr>
          <a:lstStyle/>
          <a:p>
            <a:pPr>
              <a:lnSpc>
                <a:spcPct val="100000"/>
              </a:lnSpc>
            </a:pPr>
            <a:r>
              <a:rPr lang="en-GB" sz="1800" cap="none" dirty="0">
                <a:solidFill>
                  <a:srgbClr val="FFFFFF">
                    <a:alpha val="75000"/>
                  </a:srgbClr>
                </a:solidFill>
              </a:rPr>
              <a:t>The simpler ANN (MLP) model outperformed the CNN, which is unusual for image classification because CNNs are designed to handle spatial data and hierarchical patterns. This suggests that my CNN architectural design was perhaps too simple or that the dataset simply suited ANNs well.</a:t>
            </a:r>
          </a:p>
          <a:p>
            <a:pPr>
              <a:lnSpc>
                <a:spcPct val="100000"/>
              </a:lnSpc>
            </a:pPr>
            <a:r>
              <a:rPr lang="en-GB" sz="1800" cap="none" dirty="0">
                <a:solidFill>
                  <a:srgbClr val="FFFFFF">
                    <a:alpha val="75000"/>
                  </a:srgbClr>
                </a:solidFill>
              </a:rPr>
              <a:t>As seen in the confusion matrices, both models struggled with visionally similar categories. ‘Shirt’ was the most confused class. Frequently mis-predicated as ‘Shirt’, ‘Pullover’, or ‘Coat’.</a:t>
            </a:r>
          </a:p>
        </p:txBody>
      </p:sp>
      <p:pic>
        <p:nvPicPr>
          <p:cNvPr id="4" name="Picture 3">
            <a:extLst>
              <a:ext uri="{FF2B5EF4-FFF2-40B4-BE49-F238E27FC236}">
                <a16:creationId xmlns:a16="http://schemas.microsoft.com/office/drawing/2014/main" id="{26CA5AF7-1D04-9CD7-3630-C108D59AD4AA}"/>
              </a:ext>
            </a:extLst>
          </p:cNvPr>
          <p:cNvPicPr>
            <a:picLocks noChangeAspect="1"/>
          </p:cNvPicPr>
          <p:nvPr/>
        </p:nvPicPr>
        <p:blipFill>
          <a:blip r:embed="rId3"/>
          <a:stretch>
            <a:fillRect/>
          </a:stretch>
        </p:blipFill>
        <p:spPr>
          <a:xfrm>
            <a:off x="7971311" y="0"/>
            <a:ext cx="4220688" cy="3534826"/>
          </a:xfrm>
          <a:prstGeom prst="rect">
            <a:avLst/>
          </a:prstGeom>
        </p:spPr>
      </p:pic>
      <p:pic>
        <p:nvPicPr>
          <p:cNvPr id="5" name="Picture 4">
            <a:extLst>
              <a:ext uri="{FF2B5EF4-FFF2-40B4-BE49-F238E27FC236}">
                <a16:creationId xmlns:a16="http://schemas.microsoft.com/office/drawing/2014/main" id="{37C6BDEF-1B4A-F4C2-0658-CE07AB63C4C4}"/>
              </a:ext>
            </a:extLst>
          </p:cNvPr>
          <p:cNvPicPr>
            <a:picLocks noChangeAspect="1"/>
          </p:cNvPicPr>
          <p:nvPr/>
        </p:nvPicPr>
        <p:blipFill>
          <a:blip r:embed="rId4"/>
          <a:stretch>
            <a:fillRect/>
          </a:stretch>
        </p:blipFill>
        <p:spPr>
          <a:xfrm>
            <a:off x="5600923" y="3449080"/>
            <a:ext cx="4070351" cy="3408920"/>
          </a:xfrm>
          <a:prstGeom prst="rect">
            <a:avLst/>
          </a:prstGeom>
        </p:spPr>
      </p:pic>
    </p:spTree>
    <p:extLst>
      <p:ext uri="{BB962C8B-B14F-4D97-AF65-F5344CB8AC3E}">
        <p14:creationId xmlns:p14="http://schemas.microsoft.com/office/powerpoint/2010/main" val="343240868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6087-1C35-FE20-365D-CA190BC09E7E}"/>
              </a:ext>
            </a:extLst>
          </p:cNvPr>
          <p:cNvSpPr>
            <a:spLocks noGrp="1"/>
          </p:cNvSpPr>
          <p:nvPr>
            <p:ph type="title"/>
          </p:nvPr>
        </p:nvSpPr>
        <p:spPr>
          <a:xfrm>
            <a:off x="381408" y="327595"/>
            <a:ext cx="11029616" cy="988332"/>
          </a:xfrm>
        </p:spPr>
        <p:txBody>
          <a:bodyPr/>
          <a:lstStyle/>
          <a:p>
            <a:r>
              <a:rPr lang="en-GB" b="1" dirty="0"/>
              <a:t>conclusion</a:t>
            </a:r>
          </a:p>
        </p:txBody>
      </p:sp>
      <p:graphicFrame>
        <p:nvGraphicFramePr>
          <p:cNvPr id="10" name="Content Placeholder 5">
            <a:extLst>
              <a:ext uri="{FF2B5EF4-FFF2-40B4-BE49-F238E27FC236}">
                <a16:creationId xmlns:a16="http://schemas.microsoft.com/office/drawing/2014/main" id="{88516E41-7875-D39A-C695-BC02BBBAFA24}"/>
              </a:ext>
            </a:extLst>
          </p:cNvPr>
          <p:cNvGraphicFramePr>
            <a:graphicFrameLocks noGrp="1"/>
          </p:cNvGraphicFramePr>
          <p:nvPr>
            <p:ph sz="half" idx="1"/>
            <p:extLst>
              <p:ext uri="{D42A27DB-BD31-4B8C-83A1-F6EECF244321}">
                <p14:modId xmlns:p14="http://schemas.microsoft.com/office/powerpoint/2010/main" val="3235147530"/>
              </p:ext>
            </p:extLst>
          </p:nvPr>
        </p:nvGraphicFramePr>
        <p:xfrm>
          <a:off x="581193" y="2228003"/>
          <a:ext cx="5194767" cy="3633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ontent Placeholder 7">
            <a:extLst>
              <a:ext uri="{FF2B5EF4-FFF2-40B4-BE49-F238E27FC236}">
                <a16:creationId xmlns:a16="http://schemas.microsoft.com/office/drawing/2014/main" id="{E9B8747C-3602-C691-EB0D-7851FABB2908}"/>
              </a:ext>
            </a:extLst>
          </p:cNvPr>
          <p:cNvSpPr>
            <a:spLocks noGrp="1"/>
          </p:cNvSpPr>
          <p:nvPr>
            <p:ph sz="half" idx="2"/>
          </p:nvPr>
        </p:nvSpPr>
        <p:spPr>
          <a:ln>
            <a:noFill/>
          </a:ln>
        </p:spPr>
        <p:txBody>
          <a:bodyPr/>
          <a:lstStyle/>
          <a:p>
            <a:r>
              <a:rPr lang="en-GB" dirty="0"/>
              <a:t>While CNNs are typically superior for complex image tasks, this ANN (MLP) proved highly effective for this dataset, demonstrating strong classification power from flattened pixel data.</a:t>
            </a:r>
          </a:p>
          <a:p>
            <a:r>
              <a:rPr lang="en-GB" dirty="0"/>
              <a:t>The primary limitation of both models is their difficulty in distinguishing between visually similar items, such as different types of tops (Shirts, Coats, Pullovers).</a:t>
            </a:r>
          </a:p>
        </p:txBody>
      </p:sp>
      <p:sp>
        <p:nvSpPr>
          <p:cNvPr id="5" name="Text Placeholder 4">
            <a:extLst>
              <a:ext uri="{FF2B5EF4-FFF2-40B4-BE49-F238E27FC236}">
                <a16:creationId xmlns:a16="http://schemas.microsoft.com/office/drawing/2014/main" id="{69581F86-0F09-89F4-D393-BC0BDAFB30FD}"/>
              </a:ext>
            </a:extLst>
          </p:cNvPr>
          <p:cNvSpPr>
            <a:spLocks noGrp="1"/>
          </p:cNvSpPr>
          <p:nvPr>
            <p:ph type="body" idx="4294967295"/>
          </p:nvPr>
        </p:nvSpPr>
        <p:spPr>
          <a:xfrm>
            <a:off x="461042" y="1826452"/>
            <a:ext cx="5194300" cy="557213"/>
          </a:xfrm>
        </p:spPr>
        <p:txBody>
          <a:bodyPr/>
          <a:lstStyle/>
          <a:p>
            <a:r>
              <a:rPr lang="en-GB" sz="2800" b="1" dirty="0"/>
              <a:t>Achievements:</a:t>
            </a:r>
          </a:p>
        </p:txBody>
      </p:sp>
      <p:sp>
        <p:nvSpPr>
          <p:cNvPr id="7" name="Text Placeholder 6">
            <a:extLst>
              <a:ext uri="{FF2B5EF4-FFF2-40B4-BE49-F238E27FC236}">
                <a16:creationId xmlns:a16="http://schemas.microsoft.com/office/drawing/2014/main" id="{A88725EB-56C4-D1F7-E338-A391DA9DE8B9}"/>
              </a:ext>
            </a:extLst>
          </p:cNvPr>
          <p:cNvSpPr>
            <a:spLocks noGrp="1"/>
          </p:cNvSpPr>
          <p:nvPr>
            <p:ph type="body" sz="quarter" idx="4294967295"/>
          </p:nvPr>
        </p:nvSpPr>
        <p:spPr>
          <a:xfrm>
            <a:off x="6416039" y="1824104"/>
            <a:ext cx="5194300" cy="552450"/>
          </a:xfrm>
        </p:spPr>
        <p:txBody>
          <a:bodyPr/>
          <a:lstStyle/>
          <a:p>
            <a:r>
              <a:rPr lang="en-GB" sz="2800" b="1" dirty="0"/>
              <a:t>Key takeaways:</a:t>
            </a:r>
          </a:p>
        </p:txBody>
      </p:sp>
    </p:spTree>
    <p:extLst>
      <p:ext uri="{BB962C8B-B14F-4D97-AF65-F5344CB8AC3E}">
        <p14:creationId xmlns:p14="http://schemas.microsoft.com/office/powerpoint/2010/main" val="2095752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D55C5-8C52-0E2C-AEBE-CF13E2A0668D}"/>
              </a:ext>
            </a:extLst>
          </p:cNvPr>
          <p:cNvSpPr>
            <a:spLocks noGrp="1"/>
          </p:cNvSpPr>
          <p:nvPr>
            <p:ph type="title"/>
          </p:nvPr>
        </p:nvSpPr>
        <p:spPr>
          <a:xfrm>
            <a:off x="729878" y="1242705"/>
            <a:ext cx="3031852" cy="550444"/>
          </a:xfrm>
        </p:spPr>
        <p:txBody>
          <a:bodyPr>
            <a:normAutofit/>
          </a:bodyPr>
          <a:lstStyle/>
          <a:p>
            <a:r>
              <a:rPr lang="en-GB" sz="2800" b="1" dirty="0"/>
              <a:t>Future work</a:t>
            </a:r>
          </a:p>
        </p:txBody>
      </p:sp>
      <p:sp>
        <p:nvSpPr>
          <p:cNvPr id="3" name="Content Placeholder 2">
            <a:extLst>
              <a:ext uri="{FF2B5EF4-FFF2-40B4-BE49-F238E27FC236}">
                <a16:creationId xmlns:a16="http://schemas.microsoft.com/office/drawing/2014/main" id="{B04B56FF-D7BB-0A89-CC2B-6560FAA71E76}"/>
              </a:ext>
            </a:extLst>
          </p:cNvPr>
          <p:cNvSpPr>
            <a:spLocks noGrp="1"/>
          </p:cNvSpPr>
          <p:nvPr>
            <p:ph idx="1"/>
          </p:nvPr>
        </p:nvSpPr>
        <p:spPr>
          <a:ln>
            <a:solidFill>
              <a:schemeClr val="accent1"/>
            </a:solidFill>
          </a:ln>
        </p:spPr>
        <p:txBody>
          <a:bodyPr/>
          <a:lstStyle/>
          <a:p>
            <a:r>
              <a:rPr lang="en-GB" b="1" dirty="0"/>
              <a:t>Tune hyperparameters </a:t>
            </a:r>
            <a:r>
              <a:rPr lang="en-GB" dirty="0"/>
              <a:t>such as optimiser, learning rate for both models.</a:t>
            </a:r>
          </a:p>
          <a:p>
            <a:r>
              <a:rPr lang="en-GB" dirty="0"/>
              <a:t>Implement a </a:t>
            </a:r>
            <a:r>
              <a:rPr lang="en-GB" b="1" dirty="0"/>
              <a:t>more complex CNN architecture </a:t>
            </a:r>
            <a:r>
              <a:rPr lang="en-GB" dirty="0"/>
              <a:t>like </a:t>
            </a:r>
            <a:r>
              <a:rPr lang="en-GB" dirty="0" err="1"/>
              <a:t>ResNet</a:t>
            </a:r>
            <a:r>
              <a:rPr lang="en-GB" dirty="0"/>
              <a:t> or VGG to see if it can better capture spatial hierarchies and overcome the ANN’s performance.</a:t>
            </a:r>
          </a:p>
          <a:p>
            <a:r>
              <a:rPr lang="en-GB" b="1" dirty="0"/>
              <a:t>Dropout regularisation</a:t>
            </a:r>
            <a:r>
              <a:rPr lang="en-GB" dirty="0"/>
              <a:t> was tested, but it performed slightly worse, suggesting minimal overfitting due to early stopping.</a:t>
            </a:r>
          </a:p>
        </p:txBody>
      </p:sp>
      <p:sp>
        <p:nvSpPr>
          <p:cNvPr id="4" name="Text Placeholder 3">
            <a:extLst>
              <a:ext uri="{FF2B5EF4-FFF2-40B4-BE49-F238E27FC236}">
                <a16:creationId xmlns:a16="http://schemas.microsoft.com/office/drawing/2014/main" id="{23D096E4-6CBC-7400-1E18-4B8A7E7068B0}"/>
              </a:ext>
            </a:extLst>
          </p:cNvPr>
          <p:cNvSpPr>
            <a:spLocks noGrp="1"/>
          </p:cNvSpPr>
          <p:nvPr>
            <p:ph type="body" sz="half" idx="2"/>
          </p:nvPr>
        </p:nvSpPr>
        <p:spPr>
          <a:xfrm>
            <a:off x="740371" y="2421716"/>
            <a:ext cx="3031852" cy="3001392"/>
          </a:xfrm>
        </p:spPr>
        <p:txBody>
          <a:bodyPr>
            <a:normAutofit lnSpcReduction="10000"/>
          </a:bodyPr>
          <a:lstStyle/>
          <a:p>
            <a:r>
              <a:rPr lang="en-GB" sz="1800" b="1" dirty="0"/>
              <a:t>Acknowledgements:</a:t>
            </a:r>
          </a:p>
          <a:p>
            <a:pPr marL="285750" indent="-285750">
              <a:buFont typeface="Arial" panose="020B0604020202020204" pitchFamily="34" charset="0"/>
              <a:buChar char="•"/>
            </a:pPr>
            <a:r>
              <a:rPr lang="en-GB" dirty="0"/>
              <a:t>Mo</a:t>
            </a:r>
            <a:r>
              <a:rPr lang="en-GB" sz="1800" dirty="0"/>
              <a:t>dule leader: </a:t>
            </a:r>
            <a:r>
              <a:rPr lang="en-GB" sz="1800" dirty="0" err="1"/>
              <a:t>Amudhavel</a:t>
            </a:r>
            <a:r>
              <a:rPr lang="en-GB" sz="1800" dirty="0"/>
              <a:t> Jayavel</a:t>
            </a:r>
          </a:p>
          <a:p>
            <a:pPr marL="285750" indent="-285750">
              <a:buFont typeface="Arial" panose="020B0604020202020204" pitchFamily="34" charset="0"/>
              <a:buChar char="•"/>
            </a:pPr>
            <a:r>
              <a:rPr lang="en-GB" sz="1800" dirty="0"/>
              <a:t>Dataset: Zalando Research (Fashion-MNIST)</a:t>
            </a:r>
          </a:p>
          <a:p>
            <a:pPr marL="285750" indent="-285750">
              <a:buFont typeface="Arial" panose="020B0604020202020204" pitchFamily="34" charset="0"/>
              <a:buChar char="•"/>
            </a:pPr>
            <a:r>
              <a:rPr lang="en-GB" sz="1800" dirty="0"/>
              <a:t>Tools: TensorFlow, </a:t>
            </a:r>
            <a:r>
              <a:rPr lang="en-GB" sz="1800" dirty="0" err="1"/>
              <a:t>Keras</a:t>
            </a:r>
            <a:r>
              <a:rPr lang="en-GB" sz="1800" dirty="0"/>
              <a:t>, Matplotlib, NumPy, Google Colab, GitHub and Python 3.</a:t>
            </a:r>
          </a:p>
        </p:txBody>
      </p:sp>
    </p:spTree>
    <p:extLst>
      <p:ext uri="{BB962C8B-B14F-4D97-AF65-F5344CB8AC3E}">
        <p14:creationId xmlns:p14="http://schemas.microsoft.com/office/powerpoint/2010/main" val="22489284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358</TotalTime>
  <Words>1097</Words>
  <Application>Microsoft Office PowerPoint</Application>
  <PresentationFormat>Widescreen</PresentationFormat>
  <Paragraphs>80</Paragraphs>
  <Slides>10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Tw Cen MT</vt:lpstr>
      <vt:lpstr>Wingdings 2</vt:lpstr>
      <vt:lpstr>DividendVTI</vt:lpstr>
      <vt:lpstr>A Neural Network Model for Fashion-MNIST Image Classification</vt:lpstr>
      <vt:lpstr>Introduction</vt:lpstr>
      <vt:lpstr>Project Objectives and goals</vt:lpstr>
      <vt:lpstr>Methodology and approach</vt:lpstr>
      <vt:lpstr>Data/materials/inputs</vt:lpstr>
      <vt:lpstr>Implementation and process</vt:lpstr>
      <vt:lpstr>Results and findings</vt:lpstr>
      <vt:lpstr>Discussion and interpretation</vt:lpstr>
      <vt:lpstr>conclusion</vt:lpstr>
      <vt:lpstr>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Owen Cooke</cp:lastModifiedBy>
  <cp:revision>29</cp:revision>
  <dcterms:created xsi:type="dcterms:W3CDTF">2025-11-03T11:44:50Z</dcterms:created>
  <dcterms:modified xsi:type="dcterms:W3CDTF">2025-11-04T10:27:30Z</dcterms:modified>
</cp:coreProperties>
</file>